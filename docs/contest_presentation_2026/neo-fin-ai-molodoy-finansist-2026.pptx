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92608"/>
            <a:ext cx="11484864" cy="6291072"/>
          </a:xfrm>
          <a:prstGeom prst="rect">
            <a:avLst/>
          </a:prstGeom>
          <a:solidFill>
            <a:srgbClr val="05111C">
              <a:alpha val="0"/>
            </a:srgbClr>
          </a:solidFill>
          <a:ln w="12700">
            <a:solidFill>
              <a:srgbClr val="284763">
                <a:alpha val="4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84464" y="73152"/>
            <a:ext cx="3493008" cy="2340864"/>
          </a:xfrm>
          <a:prstGeom prst="ellipse">
            <a:avLst/>
          </a:prstGeom>
          <a:solidFill>
            <a:srgbClr val="38D2FF">
              <a:alpha val="12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4882896"/>
            <a:ext cx="2542032" cy="1755648"/>
          </a:xfrm>
          <a:prstGeom prst="ellipse">
            <a:avLst/>
          </a:prstGeom>
          <a:solidFill>
            <a:srgbClr val="2EE6A6">
              <a:alpha val="10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66928"/>
            <a:ext cx="1463040" cy="0"/>
          </a:xfrm>
          <a:prstGeom prst="line">
            <a:avLst/>
          </a:prstGeom>
          <a:noFill/>
          <a:ln w="12700">
            <a:solidFill>
              <a:srgbClr val="2EE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438912"/>
            <a:ext cx="1325880" cy="219456"/>
          </a:xfrm>
          <a:prstGeom prst="rect">
            <a:avLst/>
          </a:prstGeom>
          <a:solidFill>
            <a:srgbClr val="10283E"/>
          </a:solidFill>
          <a:ln>
            <a:solidFill>
              <a:srgbClr val="284763">
                <a:alpha val="42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38D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Вступление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749808" y="841248"/>
            <a:ext cx="6263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92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NeoFin AI сокращает цену и время первичного анализа PDF-отчётности</a:t>
            </a:r>
            <a:endParaRPr lang="en-US" sz="1792" dirty="0"/>
          </a:p>
        </p:txBody>
      </p:sp>
      <p:sp>
        <p:nvSpPr>
          <p:cNvPr id="8" name="Text 6"/>
          <p:cNvSpPr/>
          <p:nvPr/>
        </p:nvSpPr>
        <p:spPr>
          <a:xfrm>
            <a:off x="749808" y="1709928"/>
            <a:ext cx="6263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Платформа превращает неудобный документ в управляемый финансовый результат для профессионального контура.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749808" y="2267712"/>
            <a:ext cx="5440680" cy="1993392"/>
          </a:xfrm>
          <a:prstGeom prst="roundRect">
            <a:avLst>
              <a:gd name="adj" fmla="val 2752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2377440"/>
            <a:ext cx="5184648" cy="45720"/>
          </a:xfrm>
          <a:prstGeom prst="roundRect">
            <a:avLst>
              <a:gd name="adj" fmla="val 50000"/>
            </a:avLst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2487168"/>
            <a:ext cx="5038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Главная мысль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950976" y="2871216"/>
            <a:ext cx="5038344" cy="494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1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NeoFin AI автоматизирует самый дорогой и рутинный участок процесса: извлечение, первичную структуризацию и объяснимый финансовый разбор отчётности из PDF.</a:t>
            </a:r>
            <a:endParaRPr lang="en-US" sz="1010" dirty="0"/>
          </a:p>
        </p:txBody>
      </p:sp>
      <p:sp>
        <p:nvSpPr>
          <p:cNvPr id="13" name="Shape 11"/>
          <p:cNvSpPr/>
          <p:nvPr/>
        </p:nvSpPr>
        <p:spPr>
          <a:xfrm>
            <a:off x="749808" y="461772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10283E"/>
          </a:solidFill>
          <a:ln w="12700">
            <a:solidFill>
              <a:srgbClr val="2EE6A6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4681728"/>
            <a:ext cx="13807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7F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метрик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2478024" y="4617720"/>
            <a:ext cx="1828800" cy="310896"/>
          </a:xfrm>
          <a:prstGeom prst="roundRect">
            <a:avLst>
              <a:gd name="adj" fmla="val 17647"/>
            </a:avLst>
          </a:prstGeom>
          <a:solidFill>
            <a:srgbClr val="10283E"/>
          </a:solidFill>
          <a:ln w="12700">
            <a:solidFill>
              <a:srgbClr val="38D2FF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87752" y="4681728"/>
            <a:ext cx="16093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7F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коэффициентов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4434840" y="461772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10283E"/>
          </a:solidFill>
          <a:ln w="12700">
            <a:solidFill>
              <a:srgbClr val="FFC55C">
                <a:alpha val="4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44568" y="4681728"/>
            <a:ext cx="13807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7F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Скоринг 0–100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749808" y="5038344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10283E"/>
          </a:solidFill>
          <a:ln w="12700">
            <a:solidFill>
              <a:srgbClr val="2EE6A6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5102352"/>
            <a:ext cx="13807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7F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B2B-фокус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6656832" y="1901952"/>
            <a:ext cx="2194560" cy="1152144"/>
          </a:xfrm>
          <a:prstGeom prst="roundRect">
            <a:avLst>
              <a:gd name="adj" fmla="val 4762"/>
            </a:avLst>
          </a:prstGeom>
          <a:solidFill>
            <a:srgbClr val="10283E"/>
          </a:solidFill>
          <a:ln w="12700">
            <a:solidFill>
              <a:srgbClr val="284763">
                <a:alpha val="4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03136" y="2066544"/>
            <a:ext cx="1901952" cy="0"/>
          </a:xfrm>
          <a:prstGeom prst="line">
            <a:avLst/>
          </a:prstGeom>
          <a:noFill/>
          <a:ln w="12700">
            <a:solidFill>
              <a:srgbClr val="2EE6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21424" y="2157984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PDF -&gt; вывод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21424" y="2670048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ядро продукта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9070848" y="1901952"/>
            <a:ext cx="2194560" cy="1152144"/>
          </a:xfrm>
          <a:prstGeom prst="roundRect">
            <a:avLst>
              <a:gd name="adj" fmla="val 4762"/>
            </a:avLst>
          </a:prstGeom>
          <a:solidFill>
            <a:srgbClr val="10283E"/>
          </a:solidFill>
          <a:ln w="12700">
            <a:solidFill>
              <a:srgbClr val="284763">
                <a:alpha val="4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17152" y="2066544"/>
            <a:ext cx="1901952" cy="0"/>
          </a:xfrm>
          <a:prstGeom prst="line">
            <a:avLst/>
          </a:prstGeom>
          <a:noFill/>
          <a:ln w="12700">
            <a:solidFill>
              <a:srgbClr val="38D2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35440" y="2157984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Объяснимо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235440" y="2670048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 + confidence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6656832" y="3255264"/>
            <a:ext cx="2194560" cy="1152144"/>
          </a:xfrm>
          <a:prstGeom prst="roundRect">
            <a:avLst>
              <a:gd name="adj" fmla="val 4762"/>
            </a:avLst>
          </a:prstGeom>
          <a:solidFill>
            <a:srgbClr val="0D2031"/>
          </a:solidFill>
          <a:ln w="12700">
            <a:solidFill>
              <a:srgbClr val="284763">
                <a:alpha val="4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03136" y="3419856"/>
            <a:ext cx="1901952" cy="0"/>
          </a:xfrm>
          <a:prstGeom prst="line">
            <a:avLst/>
          </a:prstGeom>
          <a:noFill/>
          <a:ln w="12700">
            <a:solidFill>
              <a:srgbClr val="FFC5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21424" y="3511296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В реальном времени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21424" y="4023360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+ WebSocket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9070848" y="3255264"/>
            <a:ext cx="2194560" cy="1152144"/>
          </a:xfrm>
          <a:prstGeom prst="roundRect">
            <a:avLst>
              <a:gd name="adj" fmla="val 4762"/>
            </a:avLst>
          </a:prstGeom>
          <a:solidFill>
            <a:srgbClr val="0D2031"/>
          </a:solidFill>
          <a:ln w="12700">
            <a:solidFill>
              <a:srgbClr val="284763">
                <a:alpha val="4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217152" y="3419856"/>
            <a:ext cx="1901952" cy="0"/>
          </a:xfrm>
          <a:prstGeom prst="line">
            <a:avLst/>
          </a:prstGeom>
          <a:noFill/>
          <a:ln w="12700">
            <a:solidFill>
              <a:srgbClr val="38D2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35440" y="3511296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Повторяемо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9235440" y="4023360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демо и история</a:t>
            </a:r>
            <a:endParaRPr lang="en-US" sz="860" dirty="0"/>
          </a:p>
        </p:txBody>
      </p:sp>
      <p:sp>
        <p:nvSpPr>
          <p:cNvPr id="37" name="Shape 35"/>
          <p:cNvSpPr/>
          <p:nvPr/>
        </p:nvSpPr>
        <p:spPr>
          <a:xfrm>
            <a:off x="6656832" y="4553712"/>
            <a:ext cx="4718304" cy="1417320"/>
          </a:xfrm>
          <a:prstGeom prst="roundRect">
            <a:avLst>
              <a:gd name="adj" fmla="val 3871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84848" y="4663440"/>
            <a:ext cx="4462272" cy="45720"/>
          </a:xfrm>
          <a:prstGeom prst="roundRect">
            <a:avLst>
              <a:gd name="adj" fmla="val 50000"/>
            </a:avLst>
          </a:prstGeom>
          <a:solidFill>
            <a:srgbClr val="38D2FF"/>
          </a:solidFill>
          <a:ln w="12700">
            <a:solidFill>
              <a:srgbClr val="38D2FF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0" y="4773168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Почему это сильный проект</a:t>
            </a:r>
            <a:endParaRPr lang="en-US" sz="860" dirty="0"/>
          </a:p>
        </p:txBody>
      </p:sp>
      <p:sp>
        <p:nvSpPr>
          <p:cNvPr id="40" name="Shape 38"/>
          <p:cNvSpPr/>
          <p:nvPr/>
        </p:nvSpPr>
        <p:spPr>
          <a:xfrm>
            <a:off x="6903720" y="5266944"/>
            <a:ext cx="82296" cy="82296"/>
          </a:xfrm>
          <a:prstGeom prst="ellipse">
            <a:avLst/>
          </a:prstGeom>
          <a:solidFill>
            <a:srgbClr val="38D2FF"/>
          </a:solidFill>
          <a:ln w="12700">
            <a:solidFill>
              <a:srgbClr val="38D2FF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50024" y="5193792"/>
            <a:ext cx="4096512" cy="317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Он решает конкретную профессиональную боль, а не демонстрирует абстрактный эффект от ИИ.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903720" y="5657850"/>
            <a:ext cx="82296" cy="82296"/>
          </a:xfrm>
          <a:prstGeom prst="ellipse">
            <a:avLst/>
          </a:prstGeom>
          <a:solidFill>
            <a:srgbClr val="38D2FF"/>
          </a:solidFill>
          <a:ln w="12700">
            <a:solidFill>
              <a:srgbClr val="38D2FF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50024" y="5584698"/>
            <a:ext cx="4096512" cy="317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Числовой результат остаётся воспроизводимым даже без внешнего LLM-провайдера.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903720" y="6048756"/>
            <a:ext cx="82296" cy="82296"/>
          </a:xfrm>
          <a:prstGeom prst="ellipse">
            <a:avLst/>
          </a:prstGeom>
          <a:solidFill>
            <a:srgbClr val="38D2FF"/>
          </a:solidFill>
          <a:ln w="12700">
            <a:solidFill>
              <a:srgbClr val="38D2FF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50024" y="5975604"/>
            <a:ext cx="4096512" cy="317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Продукт уже выглядит как рабочий контур: есть runtime, API, история и сценарий демонстрации.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49808" y="5870448"/>
            <a:ext cx="10625328" cy="310896"/>
          </a:xfrm>
          <a:prstGeom prst="roundRect">
            <a:avLst>
              <a:gd name="adj" fmla="val 17647"/>
            </a:avLst>
          </a:prstGeom>
          <a:solidFill>
            <a:srgbClr val="132F48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77824" y="5980176"/>
            <a:ext cx="10369296" cy="45720"/>
          </a:xfrm>
          <a:prstGeom prst="roundRect">
            <a:avLst>
              <a:gd name="adj" fmla="val 50000"/>
            </a:avLst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50976" y="6089904"/>
            <a:ext cx="10222992" cy="-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7F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NeoFin AI не заменяет финансиста — он освобождает его от дорогого ручного подготовительного этапа.</a:t>
            </a:r>
            <a:endParaRPr lang="en-US" sz="980" dirty="0"/>
          </a:p>
        </p:txBody>
      </p:sp>
      <p:sp>
        <p:nvSpPr>
          <p:cNvPr id="49" name="Text 47"/>
          <p:cNvSpPr/>
          <p:nvPr/>
        </p:nvSpPr>
        <p:spPr>
          <a:xfrm>
            <a:off x="713232" y="640994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NeoFin AI | основная история | 30.03.2026</a:t>
            </a:r>
            <a:endParaRPr lang="en-US" sz="820" dirty="0"/>
          </a:p>
        </p:txBody>
      </p:sp>
      <p:sp>
        <p:nvSpPr>
          <p:cNvPr id="50" name="Text 48"/>
          <p:cNvSpPr/>
          <p:nvPr/>
        </p:nvSpPr>
        <p:spPr>
          <a:xfrm>
            <a:off x="10991088" y="635508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2EE6A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01</a:t>
            </a:r>
            <a:endParaRPr lang="en-US" sz="9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92608"/>
            <a:ext cx="11484864" cy="6291072"/>
          </a:xfrm>
          <a:prstGeom prst="rect">
            <a:avLst/>
          </a:prstGeom>
          <a:solidFill>
            <a:srgbClr val="05111C">
              <a:alpha val="0"/>
            </a:srgbClr>
          </a:solidFill>
          <a:ln w="12700">
            <a:solidFill>
              <a:srgbClr val="284763">
                <a:alpha val="4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84464" y="73152"/>
            <a:ext cx="3493008" cy="2340864"/>
          </a:xfrm>
          <a:prstGeom prst="ellipse">
            <a:avLst/>
          </a:prstGeom>
          <a:solidFill>
            <a:srgbClr val="38D2FF">
              <a:alpha val="12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4882896"/>
            <a:ext cx="2542032" cy="1755648"/>
          </a:xfrm>
          <a:prstGeom prst="ellipse">
            <a:avLst/>
          </a:prstGeom>
          <a:solidFill>
            <a:srgbClr val="2EE6A6">
              <a:alpha val="10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66928"/>
            <a:ext cx="1463040" cy="0"/>
          </a:xfrm>
          <a:prstGeom prst="line">
            <a:avLst/>
          </a:prstGeom>
          <a:noFill/>
          <a:ln w="12700">
            <a:solidFill>
              <a:srgbClr val="2EE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438912"/>
            <a:ext cx="1490472" cy="219456"/>
          </a:xfrm>
          <a:prstGeom prst="rect">
            <a:avLst/>
          </a:prstGeom>
          <a:solidFill>
            <a:srgbClr val="10283E"/>
          </a:solidFill>
          <a:ln>
            <a:solidFill>
              <a:srgbClr val="284763">
                <a:alpha val="42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38D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Проблема 1/3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749808" y="841248"/>
            <a:ext cx="6263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36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Почему PDF-отчётность остаётся узким горлышком</a:t>
            </a:r>
            <a:endParaRPr lang="en-US" sz="2036" dirty="0"/>
          </a:p>
        </p:txBody>
      </p:sp>
      <p:sp>
        <p:nvSpPr>
          <p:cNvPr id="8" name="Text 6"/>
          <p:cNvSpPr/>
          <p:nvPr/>
        </p:nvSpPr>
        <p:spPr>
          <a:xfrm>
            <a:off x="749808" y="1709928"/>
            <a:ext cx="6263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Формулы известны давно. Дорогой участок находится раньше — на этапе извлечения и подготовки данных.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749808" y="1938528"/>
            <a:ext cx="5010912" cy="3639312"/>
          </a:xfrm>
          <a:prstGeom prst="roundRect">
            <a:avLst>
              <a:gd name="adj" fmla="val 1508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2048256"/>
            <a:ext cx="4754880" cy="45720"/>
          </a:xfrm>
          <a:prstGeom prst="roundRect">
            <a:avLst>
              <a:gd name="adj" fmla="val 50000"/>
            </a:avLst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2157984"/>
            <a:ext cx="4608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Что ломает скорость анализа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987552" y="2651760"/>
            <a:ext cx="82296" cy="82296"/>
          </a:xfrm>
          <a:prstGeom prst="ellipse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33856" y="2578608"/>
            <a:ext cx="440740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Отчётность приходит в формате, удобном для чтения человеком, но неудобном для машинного разбора.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987552" y="3078480"/>
            <a:ext cx="82296" cy="82296"/>
          </a:xfrm>
          <a:prstGeom prst="ellipse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33856" y="3005328"/>
            <a:ext cx="440740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Текстовые PDF, таблицы и scanned-документы требуют разных стратегий обработки.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987552" y="3505200"/>
            <a:ext cx="82296" cy="82296"/>
          </a:xfrm>
          <a:prstGeom prst="ellipse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33856" y="3432048"/>
            <a:ext cx="440740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Команда тратит часы на подготовку ещё до того, как начинается финансовая интерпретация.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236208" y="1938528"/>
            <a:ext cx="5120640" cy="3639312"/>
          </a:xfrm>
          <a:prstGeom prst="roundRect">
            <a:avLst>
              <a:gd name="adj" fmla="val 1508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64224" y="2048256"/>
            <a:ext cx="4864608" cy="45720"/>
          </a:xfrm>
          <a:prstGeom prst="roundRect">
            <a:avLst>
              <a:gd name="adj" fmla="val 50000"/>
            </a:avLst>
          </a:prstGeom>
          <a:solidFill>
            <a:srgbClr val="38D2FF"/>
          </a:solidFill>
          <a:ln w="12700">
            <a:solidFill>
              <a:srgbClr val="38D2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37376" y="2157984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Где именно теряется ценность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6473952" y="2578608"/>
            <a:ext cx="4681728" cy="841248"/>
          </a:xfrm>
          <a:prstGeom prst="roundRect">
            <a:avLst>
              <a:gd name="adj" fmla="val 6522"/>
            </a:avLst>
          </a:prstGeom>
          <a:solidFill>
            <a:srgbClr val="0D2031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01968" y="2688336"/>
            <a:ext cx="4425696" cy="45720"/>
          </a:xfrm>
          <a:prstGeom prst="roundRect">
            <a:avLst>
              <a:gd name="adj" fmla="val 50000"/>
            </a:avLst>
          </a:prstGeom>
          <a:solidFill>
            <a:srgbClr val="FFC55C"/>
          </a:solidFill>
          <a:ln w="12700">
            <a:solidFill>
              <a:srgbClr val="FFC55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2798064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Ручной перенос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6675120" y="3182112"/>
            <a:ext cx="42793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Числа переезжают из PDF в таблицы руками.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6473952" y="3566160"/>
            <a:ext cx="4681728" cy="841248"/>
          </a:xfrm>
          <a:prstGeom prst="roundRect">
            <a:avLst>
              <a:gd name="adj" fmla="val 6522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01968" y="3675888"/>
            <a:ext cx="4425696" cy="45720"/>
          </a:xfrm>
          <a:prstGeom prst="roundRect">
            <a:avLst>
              <a:gd name="adj" fmla="val 50000"/>
            </a:avLst>
          </a:prstGeom>
          <a:solidFill>
            <a:srgbClr val="38D2FF"/>
          </a:solidFill>
          <a:ln w="12700">
            <a:solidFill>
              <a:srgbClr val="38D2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3785616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Разные макеты</a:t>
            </a:r>
            <a:endParaRPr lang="en-US" sz="860" dirty="0"/>
          </a:p>
        </p:txBody>
      </p:sp>
      <p:sp>
        <p:nvSpPr>
          <p:cNvPr id="28" name="Text 26"/>
          <p:cNvSpPr/>
          <p:nvPr/>
        </p:nvSpPr>
        <p:spPr>
          <a:xfrm>
            <a:off x="6675120" y="4169664"/>
            <a:ext cx="42793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Каждый документ требует нового мини-разбора.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6473952" y="4553712"/>
            <a:ext cx="4681728" cy="841248"/>
          </a:xfrm>
          <a:prstGeom prst="roundRect">
            <a:avLst>
              <a:gd name="adj" fmla="val 6522"/>
            </a:avLst>
          </a:prstGeom>
          <a:solidFill>
            <a:srgbClr val="0D2031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01968" y="4663440"/>
            <a:ext cx="4425696" cy="45720"/>
          </a:xfrm>
          <a:prstGeom prst="roundRect">
            <a:avLst>
              <a:gd name="adj" fmla="val 50000"/>
            </a:avLst>
          </a:prstGeom>
          <a:solidFill>
            <a:srgbClr val="FF7A7A"/>
          </a:solidFill>
          <a:ln w="12700">
            <a:solidFill>
              <a:srgbClr val="FF7A7A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4773168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Сдвиг внимания</a:t>
            </a:r>
            <a:endParaRPr lang="en-US" sz="860" dirty="0"/>
          </a:p>
        </p:txBody>
      </p:sp>
      <p:sp>
        <p:nvSpPr>
          <p:cNvPr id="32" name="Text 30"/>
          <p:cNvSpPr/>
          <p:nvPr/>
        </p:nvSpPr>
        <p:spPr>
          <a:xfrm>
            <a:off x="6675120" y="5157216"/>
            <a:ext cx="42793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Вместо выводов команда занята технической подготовкой.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749808" y="5852160"/>
            <a:ext cx="10625328" cy="310896"/>
          </a:xfrm>
          <a:prstGeom prst="roundRect">
            <a:avLst>
              <a:gd name="adj" fmla="val 17647"/>
            </a:avLst>
          </a:prstGeom>
          <a:solidFill>
            <a:srgbClr val="132F48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77824" y="5961888"/>
            <a:ext cx="10369296" cy="45720"/>
          </a:xfrm>
          <a:prstGeom prst="roundRect">
            <a:avLst>
              <a:gd name="adj" fmla="val 50000"/>
            </a:avLst>
          </a:prstGeom>
          <a:solidFill>
            <a:srgbClr val="38D2FF"/>
          </a:solidFill>
          <a:ln w="12700">
            <a:solidFill>
              <a:srgbClr val="38D2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0976" y="6071616"/>
            <a:ext cx="10222992" cy="-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F7F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Задача NeoFin AI — не «как придумать новую формулу», а как быстрее и надёжнее добраться до самих чисел.</a:t>
            </a:r>
            <a:endParaRPr lang="en-US" sz="960" dirty="0"/>
          </a:p>
        </p:txBody>
      </p:sp>
      <p:sp>
        <p:nvSpPr>
          <p:cNvPr id="36" name="Text 34"/>
          <p:cNvSpPr/>
          <p:nvPr/>
        </p:nvSpPr>
        <p:spPr>
          <a:xfrm>
            <a:off x="713232" y="640994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NeoFin AI | основная история | 30.03.2026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10991088" y="635508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2EE6A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02</a:t>
            </a:r>
            <a:endParaRPr lang="en-US" sz="9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92608"/>
            <a:ext cx="11484864" cy="6291072"/>
          </a:xfrm>
          <a:prstGeom prst="rect">
            <a:avLst/>
          </a:prstGeom>
          <a:solidFill>
            <a:srgbClr val="05111C">
              <a:alpha val="0"/>
            </a:srgbClr>
          </a:solidFill>
          <a:ln w="12700">
            <a:solidFill>
              <a:srgbClr val="284763">
                <a:alpha val="4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84464" y="73152"/>
            <a:ext cx="3493008" cy="2340864"/>
          </a:xfrm>
          <a:prstGeom prst="ellipse">
            <a:avLst/>
          </a:prstGeom>
          <a:solidFill>
            <a:srgbClr val="38D2FF">
              <a:alpha val="12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4882896"/>
            <a:ext cx="2542032" cy="1755648"/>
          </a:xfrm>
          <a:prstGeom prst="ellipse">
            <a:avLst/>
          </a:prstGeom>
          <a:solidFill>
            <a:srgbClr val="2EE6A6">
              <a:alpha val="10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66928"/>
            <a:ext cx="1463040" cy="0"/>
          </a:xfrm>
          <a:prstGeom prst="line">
            <a:avLst/>
          </a:prstGeom>
          <a:noFill/>
          <a:ln w="12700">
            <a:solidFill>
              <a:srgbClr val="2EE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438912"/>
            <a:ext cx="1490472" cy="219456"/>
          </a:xfrm>
          <a:prstGeom prst="rect">
            <a:avLst/>
          </a:prstGeom>
          <a:solidFill>
            <a:srgbClr val="10283E"/>
          </a:solidFill>
          <a:ln>
            <a:solidFill>
              <a:srgbClr val="284763">
                <a:alpha val="42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38D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Проблема 2/3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749808" y="841248"/>
            <a:ext cx="6263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92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Ручной подготовительный этап создаёт три прямых потери</a:t>
            </a:r>
            <a:endParaRPr lang="en-US" sz="1792" dirty="0"/>
          </a:p>
        </p:txBody>
      </p:sp>
      <p:sp>
        <p:nvSpPr>
          <p:cNvPr id="8" name="Text 6"/>
          <p:cNvSpPr/>
          <p:nvPr/>
        </p:nvSpPr>
        <p:spPr>
          <a:xfrm>
            <a:off x="749808" y="1709928"/>
            <a:ext cx="6263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Эта боль особенно сильна там, где отчётность разбирают регулярно и время специалиста уже дорого стоит.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969264" y="2011680"/>
            <a:ext cx="3246120" cy="1298448"/>
          </a:xfrm>
          <a:prstGeom prst="roundRect">
            <a:avLst>
              <a:gd name="adj" fmla="val 4225"/>
            </a:avLst>
          </a:prstGeom>
          <a:solidFill>
            <a:srgbClr val="10283E"/>
          </a:solidFill>
          <a:ln w="12700">
            <a:solidFill>
              <a:srgbClr val="284763">
                <a:alpha val="4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15568" y="2176272"/>
            <a:ext cx="2953512" cy="0"/>
          </a:xfrm>
          <a:prstGeom prst="line">
            <a:avLst/>
          </a:prstGeom>
          <a:noFill/>
          <a:ln w="12700">
            <a:solidFill>
              <a:srgbClr val="38D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3856" y="2267712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Время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33856" y="2926080"/>
            <a:ext cx="2916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слишком много часов уходит до этапа интерпретации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4471416" y="2011680"/>
            <a:ext cx="3246120" cy="1298448"/>
          </a:xfrm>
          <a:prstGeom prst="roundRect">
            <a:avLst>
              <a:gd name="adj" fmla="val 4225"/>
            </a:avLst>
          </a:prstGeom>
          <a:solidFill>
            <a:srgbClr val="10283E"/>
          </a:solidFill>
          <a:ln w="12700">
            <a:solidFill>
              <a:srgbClr val="284763">
                <a:alpha val="4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2176272"/>
            <a:ext cx="2953512" cy="0"/>
          </a:xfrm>
          <a:prstGeom prst="line">
            <a:avLst/>
          </a:prstGeom>
          <a:noFill/>
          <a:ln w="12700">
            <a:solidFill>
              <a:srgbClr val="FF7A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36008" y="2267712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Ошибки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36008" y="2926080"/>
            <a:ext cx="2916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механические промахи возникают из-за переноса, а не из-за логики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7973568" y="2011680"/>
            <a:ext cx="3246120" cy="1298448"/>
          </a:xfrm>
          <a:prstGeom prst="roundRect">
            <a:avLst>
              <a:gd name="adj" fmla="val 4225"/>
            </a:avLst>
          </a:prstGeom>
          <a:solidFill>
            <a:srgbClr val="10283E"/>
          </a:solidFill>
          <a:ln w="12700">
            <a:solidFill>
              <a:srgbClr val="284763">
                <a:alpha val="4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19872" y="2176272"/>
            <a:ext cx="2953512" cy="0"/>
          </a:xfrm>
          <a:prstGeom prst="line">
            <a:avLst/>
          </a:prstGeom>
          <a:noFill/>
          <a:ln w="12700">
            <a:solidFill>
              <a:srgbClr val="FFC5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0" y="2267712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Разброс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138160" y="2926080"/>
            <a:ext cx="2916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разные люди и документы дают разную глубину первичного разбора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841248" y="4096512"/>
            <a:ext cx="4956048" cy="1627632"/>
          </a:xfrm>
          <a:prstGeom prst="roundRect">
            <a:avLst>
              <a:gd name="adj" fmla="val 3371"/>
            </a:avLst>
          </a:prstGeom>
          <a:solidFill>
            <a:srgbClr val="0D2031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9264" y="4206240"/>
            <a:ext cx="4700016" cy="45720"/>
          </a:xfrm>
          <a:prstGeom prst="roundRect">
            <a:avLst>
              <a:gd name="adj" fmla="val 50000"/>
            </a:avLst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42416" y="4315968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Кто чувствует боль сильнее всего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1042416" y="4700016"/>
            <a:ext cx="4553712" cy="334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Финансовые команды, аудит, консалтинг, риск-подразделения банков и средний бизнес с регулярным потоком PDF-отчётности.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89904" y="4096512"/>
            <a:ext cx="4956048" cy="1627632"/>
          </a:xfrm>
          <a:prstGeom prst="roundRect">
            <a:avLst>
              <a:gd name="adj" fmla="val 3371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4206240"/>
            <a:ext cx="4700016" cy="45720"/>
          </a:xfrm>
          <a:prstGeom prst="roundRect">
            <a:avLst>
              <a:gd name="adj" fmla="val 50000"/>
            </a:avLst>
          </a:prstGeom>
          <a:solidFill>
            <a:srgbClr val="38D2FF"/>
          </a:solidFill>
          <a:ln w="12700">
            <a:solidFill>
              <a:srgbClr val="38D2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91072" y="4315968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Что это значит экономически</a:t>
            </a:r>
            <a:endParaRPr lang="en-US" sz="860" dirty="0"/>
          </a:p>
        </p:txBody>
      </p:sp>
      <p:sp>
        <p:nvSpPr>
          <p:cNvPr id="28" name="Text 26"/>
          <p:cNvSpPr/>
          <p:nvPr/>
        </p:nvSpPr>
        <p:spPr>
          <a:xfrm>
            <a:off x="6291072" y="4700016"/>
            <a:ext cx="4553712" cy="334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Компания платит не только за экспертизу, но и за рутину, которую можно и нужно автоматизировать.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41248" y="5888736"/>
            <a:ext cx="10515600" cy="256032"/>
          </a:xfrm>
          <a:prstGeom prst="roundRect">
            <a:avLst>
              <a:gd name="adj" fmla="val 21429"/>
            </a:avLst>
          </a:prstGeom>
          <a:solidFill>
            <a:srgbClr val="132F48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9264" y="5998464"/>
            <a:ext cx="10259568" cy="45720"/>
          </a:xfrm>
          <a:prstGeom prst="roundRect">
            <a:avLst>
              <a:gd name="adj" fmla="val 50000"/>
            </a:avLst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2416" y="6108192"/>
            <a:ext cx="10113264" cy="-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F7F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NeoFin AI монетизирует именно это узкое место — между документом и готовым аналитическим действием.</a:t>
            </a:r>
            <a:endParaRPr lang="en-US" sz="960" dirty="0"/>
          </a:p>
        </p:txBody>
      </p:sp>
      <p:sp>
        <p:nvSpPr>
          <p:cNvPr id="32" name="Text 30"/>
          <p:cNvSpPr/>
          <p:nvPr/>
        </p:nvSpPr>
        <p:spPr>
          <a:xfrm>
            <a:off x="713232" y="640994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NeoFin AI | основная история | 30.03.2026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10991088" y="635508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2EE6A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03</a:t>
            </a:r>
            <a:endParaRPr lang="en-US" sz="9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92608"/>
            <a:ext cx="11484864" cy="6291072"/>
          </a:xfrm>
          <a:prstGeom prst="rect">
            <a:avLst/>
          </a:prstGeom>
          <a:solidFill>
            <a:srgbClr val="05111C">
              <a:alpha val="0"/>
            </a:srgbClr>
          </a:solidFill>
          <a:ln w="12700">
            <a:solidFill>
              <a:srgbClr val="284763">
                <a:alpha val="4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84464" y="73152"/>
            <a:ext cx="3493008" cy="2340864"/>
          </a:xfrm>
          <a:prstGeom prst="ellipse">
            <a:avLst/>
          </a:prstGeom>
          <a:solidFill>
            <a:srgbClr val="38D2FF">
              <a:alpha val="12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4882896"/>
            <a:ext cx="2542032" cy="1755648"/>
          </a:xfrm>
          <a:prstGeom prst="ellipse">
            <a:avLst/>
          </a:prstGeom>
          <a:solidFill>
            <a:srgbClr val="2EE6A6">
              <a:alpha val="10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66928"/>
            <a:ext cx="1463040" cy="0"/>
          </a:xfrm>
          <a:prstGeom prst="line">
            <a:avLst/>
          </a:prstGeom>
          <a:noFill/>
          <a:ln w="12700">
            <a:solidFill>
              <a:srgbClr val="2EE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438912"/>
            <a:ext cx="1490472" cy="219456"/>
          </a:xfrm>
          <a:prstGeom prst="rect">
            <a:avLst/>
          </a:prstGeom>
          <a:solidFill>
            <a:srgbClr val="10283E"/>
          </a:solidFill>
          <a:ln>
            <a:solidFill>
              <a:srgbClr val="284763">
                <a:alpha val="42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38D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Проблема 3/3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749808" y="841248"/>
            <a:ext cx="6263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19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Почему рынок готов к такому решению именно сейчас</a:t>
            </a:r>
            <a:endParaRPr lang="en-US" sz="1919" dirty="0"/>
          </a:p>
        </p:txBody>
      </p:sp>
      <p:sp>
        <p:nvSpPr>
          <p:cNvPr id="8" name="Text 6"/>
          <p:cNvSpPr/>
          <p:nvPr/>
        </p:nvSpPr>
        <p:spPr>
          <a:xfrm>
            <a:off x="749808" y="1709928"/>
            <a:ext cx="6263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Спрос формируют не только технологии, но и изменение требований к самой финансовой функции.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969264" y="2011680"/>
            <a:ext cx="3246120" cy="1298448"/>
          </a:xfrm>
          <a:prstGeom prst="roundRect">
            <a:avLst>
              <a:gd name="adj" fmla="val 4225"/>
            </a:avLst>
          </a:prstGeom>
          <a:solidFill>
            <a:srgbClr val="10283E"/>
          </a:solidFill>
          <a:ln w="12700">
            <a:solidFill>
              <a:srgbClr val="284763">
                <a:alpha val="4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15568" y="2176272"/>
            <a:ext cx="2953512" cy="0"/>
          </a:xfrm>
          <a:prstGeom prst="line">
            <a:avLst/>
          </a:prstGeom>
          <a:noFill/>
          <a:ln w="12700">
            <a:solidFill>
              <a:srgbClr val="2EE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3856" y="2267712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Быстрее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33856" y="2926080"/>
            <a:ext cx="2916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решения требуют более короткого аналитического цикла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4471416" y="2011680"/>
            <a:ext cx="3246120" cy="1298448"/>
          </a:xfrm>
          <a:prstGeom prst="roundRect">
            <a:avLst>
              <a:gd name="adj" fmla="val 4225"/>
            </a:avLst>
          </a:prstGeom>
          <a:solidFill>
            <a:srgbClr val="10283E"/>
          </a:solidFill>
          <a:ln w="12700">
            <a:solidFill>
              <a:srgbClr val="284763">
                <a:alpha val="4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2176272"/>
            <a:ext cx="2953512" cy="0"/>
          </a:xfrm>
          <a:prstGeom prst="line">
            <a:avLst/>
          </a:prstGeom>
          <a:noFill/>
          <a:ln w="12700">
            <a:solidFill>
              <a:srgbClr val="38D2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36008" y="2267712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Прозрачнее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36008" y="2926080"/>
            <a:ext cx="2916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результат должен быть объясним и прослеживаем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7973568" y="2011680"/>
            <a:ext cx="3246120" cy="1298448"/>
          </a:xfrm>
          <a:prstGeom prst="roundRect">
            <a:avLst>
              <a:gd name="adj" fmla="val 4225"/>
            </a:avLst>
          </a:prstGeom>
          <a:solidFill>
            <a:srgbClr val="10283E"/>
          </a:solidFill>
          <a:ln w="12700">
            <a:solidFill>
              <a:srgbClr val="284763">
                <a:alpha val="4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19872" y="2176272"/>
            <a:ext cx="2953512" cy="0"/>
          </a:xfrm>
          <a:prstGeom prst="line">
            <a:avLst/>
          </a:prstGeom>
          <a:noFill/>
          <a:ln w="12700">
            <a:solidFill>
              <a:srgbClr val="FFC5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0" y="2267712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Гибче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138160" y="2926080"/>
            <a:ext cx="2916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бизнесу нужны и облачные, и закрытые сценарии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841248" y="4096512"/>
            <a:ext cx="4956048" cy="1627632"/>
          </a:xfrm>
          <a:prstGeom prst="roundRect">
            <a:avLst>
              <a:gd name="adj" fmla="val 3371"/>
            </a:avLst>
          </a:prstGeom>
          <a:solidFill>
            <a:srgbClr val="0D2031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9264" y="4206240"/>
            <a:ext cx="4700016" cy="45720"/>
          </a:xfrm>
          <a:prstGeom prst="roundRect">
            <a:avLst>
              <a:gd name="adj" fmla="val 50000"/>
            </a:avLst>
          </a:prstGeom>
          <a:solidFill>
            <a:srgbClr val="38D2FF"/>
          </a:solidFill>
          <a:ln w="12700">
            <a:solidFill>
              <a:srgbClr val="38D2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42416" y="4315968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Сдвиг ожиданий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1042416" y="4700016"/>
            <a:ext cx="4553712" cy="334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Компании всё меньше готовы оплачивать ручную механику там, где её можно заменить управляемым инструментом.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89904" y="4096512"/>
            <a:ext cx="4956048" cy="1627632"/>
          </a:xfrm>
          <a:prstGeom prst="roundRect">
            <a:avLst>
              <a:gd name="adj" fmla="val 3371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4206240"/>
            <a:ext cx="4700016" cy="45720"/>
          </a:xfrm>
          <a:prstGeom prst="roundRect">
            <a:avLst>
              <a:gd name="adj" fmla="val 50000"/>
            </a:avLst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91072" y="4315968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Окно возможности</a:t>
            </a:r>
            <a:endParaRPr lang="en-US" sz="860" dirty="0"/>
          </a:p>
        </p:txBody>
      </p:sp>
      <p:sp>
        <p:nvSpPr>
          <p:cNvPr id="28" name="Text 26"/>
          <p:cNvSpPr/>
          <p:nvPr/>
        </p:nvSpPr>
        <p:spPr>
          <a:xfrm>
            <a:off x="6291072" y="4700016"/>
            <a:ext cx="4553712" cy="334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NeoFin AI попадает ровно в точку пересечения document AI, explainability и профессионального B2B-процесса.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13232" y="640994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NeoFin AI | основная история | 30.03.2026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10991088" y="635508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2EE6A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04</a:t>
            </a:r>
            <a:endParaRPr lang="en-US" sz="9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92608"/>
            <a:ext cx="11484864" cy="6291072"/>
          </a:xfrm>
          <a:prstGeom prst="rect">
            <a:avLst/>
          </a:prstGeom>
          <a:solidFill>
            <a:srgbClr val="05111C">
              <a:alpha val="0"/>
            </a:srgbClr>
          </a:solidFill>
          <a:ln w="12700">
            <a:solidFill>
              <a:srgbClr val="284763">
                <a:alpha val="4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84464" y="73152"/>
            <a:ext cx="3493008" cy="2340864"/>
          </a:xfrm>
          <a:prstGeom prst="ellipse">
            <a:avLst/>
          </a:prstGeom>
          <a:solidFill>
            <a:srgbClr val="38D2FF">
              <a:alpha val="12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4882896"/>
            <a:ext cx="2542032" cy="1755648"/>
          </a:xfrm>
          <a:prstGeom prst="ellipse">
            <a:avLst/>
          </a:prstGeom>
          <a:solidFill>
            <a:srgbClr val="2EE6A6">
              <a:alpha val="10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66928"/>
            <a:ext cx="1463040" cy="0"/>
          </a:xfrm>
          <a:prstGeom prst="line">
            <a:avLst/>
          </a:prstGeom>
          <a:noFill/>
          <a:ln w="12700">
            <a:solidFill>
              <a:srgbClr val="2EE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438912"/>
            <a:ext cx="1408176" cy="219456"/>
          </a:xfrm>
          <a:prstGeom prst="rect">
            <a:avLst/>
          </a:prstGeom>
          <a:solidFill>
            <a:srgbClr val="10283E"/>
          </a:solidFill>
          <a:ln>
            <a:solidFill>
              <a:srgbClr val="284763">
                <a:alpha val="42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38D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Продукт 1/3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749808" y="841248"/>
            <a:ext cx="6263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92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NeoFin AI берёт на себя весь путь от PDF до структурированного финансового результата</a:t>
            </a:r>
            <a:endParaRPr lang="en-US" sz="1792" dirty="0"/>
          </a:p>
        </p:txBody>
      </p:sp>
      <p:sp>
        <p:nvSpPr>
          <p:cNvPr id="8" name="Text 6"/>
          <p:cNvSpPr/>
          <p:nvPr/>
        </p:nvSpPr>
        <p:spPr>
          <a:xfrm>
            <a:off x="749808" y="1709928"/>
            <a:ext cx="6263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Один продуктовый контур вместо набора ручных шагов и временных таблиц.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749808" y="2267712"/>
            <a:ext cx="5440680" cy="1993392"/>
          </a:xfrm>
          <a:prstGeom prst="roundRect">
            <a:avLst>
              <a:gd name="adj" fmla="val 2752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2377440"/>
            <a:ext cx="5184648" cy="45720"/>
          </a:xfrm>
          <a:prstGeom prst="roundRect">
            <a:avLst>
              <a:gd name="adj" fmla="val 50000"/>
            </a:avLst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2487168"/>
            <a:ext cx="5038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Что делает продукт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950976" y="2871216"/>
            <a:ext cx="5038344" cy="494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1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Платформа принимает PDF, извлекает ключевые показатели из текста, таблиц и OCR-контура, рассчитывает коэффициенты и скоринг, а затем добавляет объяснимую интерпретацию и рекомендации.</a:t>
            </a:r>
            <a:endParaRPr lang="en-US" sz="1010" dirty="0"/>
          </a:p>
        </p:txBody>
      </p:sp>
      <p:sp>
        <p:nvSpPr>
          <p:cNvPr id="13" name="Shape 11"/>
          <p:cNvSpPr/>
          <p:nvPr/>
        </p:nvSpPr>
        <p:spPr>
          <a:xfrm>
            <a:off x="749808" y="4617720"/>
            <a:ext cx="2148840" cy="310896"/>
          </a:xfrm>
          <a:prstGeom prst="roundRect">
            <a:avLst>
              <a:gd name="adj" fmla="val 17647"/>
            </a:avLst>
          </a:prstGeom>
          <a:solidFill>
            <a:srgbClr val="10283E"/>
          </a:solidFill>
          <a:ln w="12700">
            <a:solidFill>
              <a:srgbClr val="38D2FF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4681728"/>
            <a:ext cx="1929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7F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Загрузка -&gt; обработка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3026664" y="4617720"/>
            <a:ext cx="2331720" cy="310896"/>
          </a:xfrm>
          <a:prstGeom prst="roundRect">
            <a:avLst>
              <a:gd name="adj" fmla="val 17647"/>
            </a:avLst>
          </a:prstGeom>
          <a:solidFill>
            <a:srgbClr val="10283E"/>
          </a:solidFill>
          <a:ln w="12700">
            <a:solidFill>
              <a:srgbClr val="2EE6A6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36392" y="4681728"/>
            <a:ext cx="2112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7F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Метрики + коэффициенты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749808" y="5038344"/>
            <a:ext cx="1828800" cy="310896"/>
          </a:xfrm>
          <a:prstGeom prst="roundRect">
            <a:avLst>
              <a:gd name="adj" fmla="val 17647"/>
            </a:avLst>
          </a:prstGeom>
          <a:solidFill>
            <a:srgbClr val="10283E"/>
          </a:solidFill>
          <a:ln w="12700">
            <a:solidFill>
              <a:srgbClr val="FFC55C">
                <a:alpha val="4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" y="5102352"/>
            <a:ext cx="16093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7F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Скоринг + NLP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6656832" y="1901952"/>
            <a:ext cx="2212848" cy="1152144"/>
          </a:xfrm>
          <a:prstGeom prst="roundRect">
            <a:avLst>
              <a:gd name="adj" fmla="val 4762"/>
            </a:avLst>
          </a:prstGeom>
          <a:solidFill>
            <a:srgbClr val="10283E"/>
          </a:solidFill>
          <a:ln w="12700">
            <a:solidFill>
              <a:srgbClr val="284763">
                <a:alpha val="4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03136" y="2066544"/>
            <a:ext cx="1920240" cy="0"/>
          </a:xfrm>
          <a:prstGeom prst="line">
            <a:avLst/>
          </a:prstGeom>
          <a:noFill/>
          <a:ln w="12700">
            <a:solidFill>
              <a:srgbClr val="38D2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21424" y="2157984"/>
            <a:ext cx="1883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821424" y="2670048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загрузка и task_id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9070848" y="1901952"/>
            <a:ext cx="2212848" cy="1152144"/>
          </a:xfrm>
          <a:prstGeom prst="roundRect">
            <a:avLst>
              <a:gd name="adj" fmla="val 4762"/>
            </a:avLst>
          </a:prstGeom>
          <a:solidFill>
            <a:srgbClr val="10283E"/>
          </a:solidFill>
          <a:ln w="12700">
            <a:solidFill>
              <a:srgbClr val="284763">
                <a:alpha val="4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17152" y="2066544"/>
            <a:ext cx="1920240" cy="0"/>
          </a:xfrm>
          <a:prstGeom prst="line">
            <a:avLst/>
          </a:prstGeom>
          <a:noFill/>
          <a:ln w="12700">
            <a:solidFill>
              <a:srgbClr val="2EE6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35440" y="2157984"/>
            <a:ext cx="1883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02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235440" y="2670048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извлечение и confidence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6656832" y="3255264"/>
            <a:ext cx="2212848" cy="1152144"/>
          </a:xfrm>
          <a:prstGeom prst="roundRect">
            <a:avLst>
              <a:gd name="adj" fmla="val 4762"/>
            </a:avLst>
          </a:prstGeom>
          <a:solidFill>
            <a:srgbClr val="0D2031"/>
          </a:solidFill>
          <a:ln w="12700">
            <a:solidFill>
              <a:srgbClr val="284763">
                <a:alpha val="4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03136" y="3419856"/>
            <a:ext cx="1920240" cy="0"/>
          </a:xfrm>
          <a:prstGeom prst="line">
            <a:avLst/>
          </a:prstGeom>
          <a:noFill/>
          <a:ln w="12700">
            <a:solidFill>
              <a:srgbClr val="FFC5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21424" y="3511296"/>
            <a:ext cx="1883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03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821424" y="4023360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 и уровень риска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9070848" y="3255264"/>
            <a:ext cx="2212848" cy="1152144"/>
          </a:xfrm>
          <a:prstGeom prst="roundRect">
            <a:avLst>
              <a:gd name="adj" fmla="val 4762"/>
            </a:avLst>
          </a:prstGeom>
          <a:solidFill>
            <a:srgbClr val="0D2031"/>
          </a:solidFill>
          <a:ln w="12700">
            <a:solidFill>
              <a:srgbClr val="284763">
                <a:alpha val="4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217152" y="3419856"/>
            <a:ext cx="1920240" cy="0"/>
          </a:xfrm>
          <a:prstGeom prst="line">
            <a:avLst/>
          </a:prstGeom>
          <a:noFill/>
          <a:ln w="12700">
            <a:solidFill>
              <a:srgbClr val="38D2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35440" y="3511296"/>
            <a:ext cx="1883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04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9235440" y="4023360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AI-комментарии</a:t>
            </a:r>
            <a:endParaRPr lang="en-US" sz="860" dirty="0"/>
          </a:p>
        </p:txBody>
      </p:sp>
      <p:sp>
        <p:nvSpPr>
          <p:cNvPr id="35" name="Shape 33"/>
          <p:cNvSpPr/>
          <p:nvPr/>
        </p:nvSpPr>
        <p:spPr>
          <a:xfrm>
            <a:off x="6656832" y="4553712"/>
            <a:ext cx="4718304" cy="1417320"/>
          </a:xfrm>
          <a:prstGeom prst="roundRect">
            <a:avLst>
              <a:gd name="adj" fmla="val 3871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84848" y="4663440"/>
            <a:ext cx="4462272" cy="45720"/>
          </a:xfrm>
          <a:prstGeom prst="roundRect">
            <a:avLst>
              <a:gd name="adj" fmla="val 50000"/>
            </a:avLst>
          </a:prstGeom>
          <a:solidFill>
            <a:srgbClr val="38D2FF"/>
          </a:solidFill>
          <a:ln w="12700">
            <a:solidFill>
              <a:srgbClr val="38D2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0" y="4773168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Почему это важно</a:t>
            </a:r>
            <a:endParaRPr lang="en-US" sz="860" dirty="0"/>
          </a:p>
        </p:txBody>
      </p:sp>
      <p:sp>
        <p:nvSpPr>
          <p:cNvPr id="38" name="Shape 36"/>
          <p:cNvSpPr/>
          <p:nvPr/>
        </p:nvSpPr>
        <p:spPr>
          <a:xfrm>
            <a:off x="6903720" y="5266944"/>
            <a:ext cx="82296" cy="82296"/>
          </a:xfrm>
          <a:prstGeom prst="ellipse">
            <a:avLst/>
          </a:prstGeom>
          <a:solidFill>
            <a:srgbClr val="38D2FF"/>
          </a:solidFill>
          <a:ln w="12700">
            <a:solidFill>
              <a:srgbClr val="38D2FF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50024" y="5193792"/>
            <a:ext cx="4096512" cy="317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Пользователь получает не голый документ, а готовый аналитический объект.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903720" y="5657850"/>
            <a:ext cx="82296" cy="82296"/>
          </a:xfrm>
          <a:prstGeom prst="ellipse">
            <a:avLst/>
          </a:prstGeom>
          <a:solidFill>
            <a:srgbClr val="38D2FF"/>
          </a:solidFill>
          <a:ln w="12700">
            <a:solidFill>
              <a:srgbClr val="38D2FF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50024" y="5584698"/>
            <a:ext cx="4096512" cy="186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Сценарий работает и для UI, и для API, и для многопериодного сравнения.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903720" y="5917311"/>
            <a:ext cx="82296" cy="82296"/>
          </a:xfrm>
          <a:prstGeom prst="ellipse">
            <a:avLst/>
          </a:prstGeom>
          <a:solidFill>
            <a:srgbClr val="38D2FF"/>
          </a:solidFill>
          <a:ln w="12700">
            <a:solidFill>
              <a:srgbClr val="38D2FF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50024" y="5844159"/>
            <a:ext cx="4096512" cy="186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Продукт ускоряет переход от файла к обсуждению решения.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13232" y="640994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NeoFin AI | основная история | 30.03.2026</a:t>
            </a:r>
            <a:endParaRPr lang="en-US" sz="820" dirty="0"/>
          </a:p>
        </p:txBody>
      </p:sp>
      <p:sp>
        <p:nvSpPr>
          <p:cNvPr id="45" name="Text 43"/>
          <p:cNvSpPr/>
          <p:nvPr/>
        </p:nvSpPr>
        <p:spPr>
          <a:xfrm>
            <a:off x="10991088" y="635508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2EE6A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05</a:t>
            </a:r>
            <a:endParaRPr lang="en-US" sz="9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92608"/>
            <a:ext cx="11484864" cy="6291072"/>
          </a:xfrm>
          <a:prstGeom prst="rect">
            <a:avLst/>
          </a:prstGeom>
          <a:solidFill>
            <a:srgbClr val="05111C">
              <a:alpha val="0"/>
            </a:srgbClr>
          </a:solidFill>
          <a:ln w="12700">
            <a:solidFill>
              <a:srgbClr val="284763">
                <a:alpha val="4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84464" y="73152"/>
            <a:ext cx="3493008" cy="2340864"/>
          </a:xfrm>
          <a:prstGeom prst="ellipse">
            <a:avLst/>
          </a:prstGeom>
          <a:solidFill>
            <a:srgbClr val="38D2FF">
              <a:alpha val="12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4882896"/>
            <a:ext cx="2542032" cy="1755648"/>
          </a:xfrm>
          <a:prstGeom prst="ellipse">
            <a:avLst/>
          </a:prstGeom>
          <a:solidFill>
            <a:srgbClr val="2EE6A6">
              <a:alpha val="10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66928"/>
            <a:ext cx="1463040" cy="0"/>
          </a:xfrm>
          <a:prstGeom prst="line">
            <a:avLst/>
          </a:prstGeom>
          <a:noFill/>
          <a:ln w="12700">
            <a:solidFill>
              <a:srgbClr val="2EE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438912"/>
            <a:ext cx="1408176" cy="219456"/>
          </a:xfrm>
          <a:prstGeom prst="rect">
            <a:avLst/>
          </a:prstGeom>
          <a:solidFill>
            <a:srgbClr val="10283E"/>
          </a:solidFill>
          <a:ln>
            <a:solidFill>
              <a:srgbClr val="284763">
                <a:alpha val="42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38D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Продукт 2/3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749808" y="841248"/>
            <a:ext cx="6263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92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На выходе пользователь видит не хаос, а понятную структуру результата</a:t>
            </a:r>
            <a:endParaRPr lang="en-US" sz="1792" dirty="0"/>
          </a:p>
        </p:txBody>
      </p:sp>
      <p:sp>
        <p:nvSpPr>
          <p:cNvPr id="8" name="Text 6"/>
          <p:cNvSpPr/>
          <p:nvPr/>
        </p:nvSpPr>
        <p:spPr>
          <a:xfrm>
            <a:off x="749808" y="1709928"/>
            <a:ext cx="6263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Это делает продукт пригодным для действия, а не только для демонстрации технологии.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873252" y="2011680"/>
            <a:ext cx="2487168" cy="1298448"/>
          </a:xfrm>
          <a:prstGeom prst="roundRect">
            <a:avLst>
              <a:gd name="adj" fmla="val 4225"/>
            </a:avLst>
          </a:prstGeom>
          <a:solidFill>
            <a:srgbClr val="10283E"/>
          </a:solidFill>
          <a:ln w="12700">
            <a:solidFill>
              <a:srgbClr val="284763">
                <a:alpha val="4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9556" y="2176272"/>
            <a:ext cx="2194560" cy="0"/>
          </a:xfrm>
          <a:prstGeom prst="line">
            <a:avLst/>
          </a:prstGeom>
          <a:noFill/>
          <a:ln w="12700">
            <a:solidFill>
              <a:srgbClr val="2EE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7844" y="2267712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37844" y="2926080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финансовых метрик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3525012" y="2011680"/>
            <a:ext cx="2487168" cy="1298448"/>
          </a:xfrm>
          <a:prstGeom prst="roundRect">
            <a:avLst>
              <a:gd name="adj" fmla="val 4225"/>
            </a:avLst>
          </a:prstGeom>
          <a:solidFill>
            <a:srgbClr val="10283E"/>
          </a:solidFill>
          <a:ln w="12700">
            <a:solidFill>
              <a:srgbClr val="284763">
                <a:alpha val="4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71316" y="2176272"/>
            <a:ext cx="2194560" cy="0"/>
          </a:xfrm>
          <a:prstGeom prst="line">
            <a:avLst/>
          </a:prstGeom>
          <a:noFill/>
          <a:ln w="12700">
            <a:solidFill>
              <a:srgbClr val="38D2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89604" y="2267712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689604" y="2926080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коэффициентов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6176772" y="2011680"/>
            <a:ext cx="2487168" cy="1298448"/>
          </a:xfrm>
          <a:prstGeom prst="roundRect">
            <a:avLst>
              <a:gd name="adj" fmla="val 4225"/>
            </a:avLst>
          </a:prstGeom>
          <a:solidFill>
            <a:srgbClr val="10283E"/>
          </a:solidFill>
          <a:ln w="12700">
            <a:solidFill>
              <a:srgbClr val="284763">
                <a:alpha val="4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23076" y="2176272"/>
            <a:ext cx="2194560" cy="0"/>
          </a:xfrm>
          <a:prstGeom prst="line">
            <a:avLst/>
          </a:prstGeom>
          <a:noFill/>
          <a:ln w="12700">
            <a:solidFill>
              <a:srgbClr val="FFC5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41364" y="2267712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0–100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341364" y="2926080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интегральный скоринг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8828532" y="2011680"/>
            <a:ext cx="2560320" cy="1298448"/>
          </a:xfrm>
          <a:prstGeom prst="roundRect">
            <a:avLst>
              <a:gd name="adj" fmla="val 4225"/>
            </a:avLst>
          </a:prstGeom>
          <a:solidFill>
            <a:srgbClr val="10283E"/>
          </a:solidFill>
          <a:ln w="12700">
            <a:solidFill>
              <a:srgbClr val="284763">
                <a:alpha val="4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74836" y="2176272"/>
            <a:ext cx="2267712" cy="0"/>
          </a:xfrm>
          <a:prstGeom prst="line">
            <a:avLst/>
          </a:prstGeom>
          <a:noFill/>
          <a:ln w="12700">
            <a:solidFill>
              <a:srgbClr val="38D2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93124" y="2267712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993124" y="2926080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слоя результата: data, score, NLP, traceability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841248" y="4096512"/>
            <a:ext cx="4956048" cy="1627632"/>
          </a:xfrm>
          <a:prstGeom prst="roundRect">
            <a:avLst>
              <a:gd name="adj" fmla="val 3371"/>
            </a:avLst>
          </a:prstGeom>
          <a:solidFill>
            <a:srgbClr val="0D2031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9264" y="4206240"/>
            <a:ext cx="4700016" cy="45720"/>
          </a:xfrm>
          <a:prstGeom prst="roundRect">
            <a:avLst>
              <a:gd name="adj" fmla="val 50000"/>
            </a:avLst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2416" y="4315968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Что входит в результат</a:t>
            </a:r>
            <a:endParaRPr lang="en-US" sz="860" dirty="0"/>
          </a:p>
        </p:txBody>
      </p:sp>
      <p:sp>
        <p:nvSpPr>
          <p:cNvPr id="28" name="Text 26"/>
          <p:cNvSpPr/>
          <p:nvPr/>
        </p:nvSpPr>
        <p:spPr>
          <a:xfrm>
            <a:off x="1042416" y="4700016"/>
            <a:ext cx="4553712" cy="334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Метрики, коэффициенты, score, risk_level, confidence_score, factors, normalized scores, NLP-рекомендации и extraction metadata.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89904" y="4096512"/>
            <a:ext cx="4956048" cy="1627632"/>
          </a:xfrm>
          <a:prstGeom prst="roundRect">
            <a:avLst>
              <a:gd name="adj" fmla="val 3371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0" y="4206240"/>
            <a:ext cx="4700016" cy="45720"/>
          </a:xfrm>
          <a:prstGeom prst="roundRect">
            <a:avLst>
              <a:gd name="adj" fmla="val 50000"/>
            </a:avLst>
          </a:prstGeom>
          <a:solidFill>
            <a:srgbClr val="38D2FF"/>
          </a:solidFill>
          <a:ln w="12700">
            <a:solidFill>
              <a:srgbClr val="38D2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91072" y="4315968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Что это даёт команде</a:t>
            </a:r>
            <a:endParaRPr lang="en-US" sz="860" dirty="0"/>
          </a:p>
        </p:txBody>
      </p:sp>
      <p:sp>
        <p:nvSpPr>
          <p:cNvPr id="32" name="Text 30"/>
          <p:cNvSpPr/>
          <p:nvPr/>
        </p:nvSpPr>
        <p:spPr>
          <a:xfrm>
            <a:off x="6291072" y="4700016"/>
            <a:ext cx="4553712" cy="334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Можно сразу обсуждать качество бизнеса, а не спорить о том, откуда брать числа и насколько им верить.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13232" y="640994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NeoFin AI | основная история | 30.03.2026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10991088" y="635508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2EE6A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06</a:t>
            </a:r>
            <a:endParaRPr lang="en-US" sz="9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92608"/>
            <a:ext cx="11484864" cy="6291072"/>
          </a:xfrm>
          <a:prstGeom prst="rect">
            <a:avLst/>
          </a:prstGeom>
          <a:solidFill>
            <a:srgbClr val="05111C">
              <a:alpha val="0"/>
            </a:srgbClr>
          </a:solidFill>
          <a:ln w="12700">
            <a:solidFill>
              <a:srgbClr val="284763">
                <a:alpha val="4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84464" y="73152"/>
            <a:ext cx="3493008" cy="2340864"/>
          </a:xfrm>
          <a:prstGeom prst="ellipse">
            <a:avLst/>
          </a:prstGeom>
          <a:solidFill>
            <a:srgbClr val="38D2FF">
              <a:alpha val="12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4882896"/>
            <a:ext cx="2542032" cy="1755648"/>
          </a:xfrm>
          <a:prstGeom prst="ellipse">
            <a:avLst/>
          </a:prstGeom>
          <a:solidFill>
            <a:srgbClr val="2EE6A6">
              <a:alpha val="10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66928"/>
            <a:ext cx="1463040" cy="0"/>
          </a:xfrm>
          <a:prstGeom prst="line">
            <a:avLst/>
          </a:prstGeom>
          <a:noFill/>
          <a:ln w="12700">
            <a:solidFill>
              <a:srgbClr val="2EE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438912"/>
            <a:ext cx="1408176" cy="219456"/>
          </a:xfrm>
          <a:prstGeom prst="rect">
            <a:avLst/>
          </a:prstGeom>
          <a:solidFill>
            <a:srgbClr val="10283E"/>
          </a:solidFill>
          <a:ln>
            <a:solidFill>
              <a:srgbClr val="284763">
                <a:alpha val="42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38D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Продукт 3/3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749808" y="841248"/>
            <a:ext cx="6263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92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Главный moat продукта — объяснимость, а не просто извлечение чисел</a:t>
            </a:r>
            <a:endParaRPr lang="en-US" sz="1792" dirty="0"/>
          </a:p>
        </p:txBody>
      </p:sp>
      <p:sp>
        <p:nvSpPr>
          <p:cNvPr id="8" name="Text 6"/>
          <p:cNvSpPr/>
          <p:nvPr/>
        </p:nvSpPr>
        <p:spPr>
          <a:xfrm>
            <a:off x="749808" y="1709928"/>
            <a:ext cx="6263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NeoFin AI показывает, почему результату можно доверять и где его стоит перепроверить.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749808" y="1938528"/>
            <a:ext cx="5010912" cy="3639312"/>
          </a:xfrm>
          <a:prstGeom prst="roundRect">
            <a:avLst>
              <a:gd name="adj" fmla="val 1508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2048256"/>
            <a:ext cx="4754880" cy="45720"/>
          </a:xfrm>
          <a:prstGeom prst="roundRect">
            <a:avLst>
              <a:gd name="adj" fmla="val 50000"/>
            </a:avLst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2157984"/>
            <a:ext cx="4608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Что видит пользователь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987552" y="2651760"/>
            <a:ext cx="82296" cy="82296"/>
          </a:xfrm>
          <a:prstGeom prst="ellipse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33856" y="2578608"/>
            <a:ext cx="440740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Для каждого показателя сохраняются source и confidence.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987552" y="2938272"/>
            <a:ext cx="82296" cy="82296"/>
          </a:xfrm>
          <a:prstGeom prst="ellipse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33856" y="2865120"/>
            <a:ext cx="440740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Низконадёжные значения могут оставаться видимыми, но не участвовать в расчётах.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987552" y="3364992"/>
            <a:ext cx="82296" cy="82296"/>
          </a:xfrm>
          <a:prstGeom prst="ellipse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33856" y="3291840"/>
            <a:ext cx="440740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Результат объясняется языком доверия к данным, а не языком чёрного ящика.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236208" y="1938528"/>
            <a:ext cx="5120640" cy="3639312"/>
          </a:xfrm>
          <a:prstGeom prst="roundRect">
            <a:avLst>
              <a:gd name="adj" fmla="val 1508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64224" y="2048256"/>
            <a:ext cx="4864608" cy="45720"/>
          </a:xfrm>
          <a:prstGeom prst="roundRect">
            <a:avLst>
              <a:gd name="adj" fmla="val 50000"/>
            </a:avLst>
          </a:prstGeom>
          <a:solidFill>
            <a:srgbClr val="38D2FF"/>
          </a:solidFill>
          <a:ln w="12700">
            <a:solidFill>
              <a:srgbClr val="38D2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37376" y="2157984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Почему это сильнее обычного document AI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6473952" y="2578608"/>
            <a:ext cx="4681728" cy="841248"/>
          </a:xfrm>
          <a:prstGeom prst="roundRect">
            <a:avLst>
              <a:gd name="adj" fmla="val 6522"/>
            </a:avLst>
          </a:prstGeom>
          <a:solidFill>
            <a:srgbClr val="0D2031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01968" y="2688336"/>
            <a:ext cx="4425696" cy="45720"/>
          </a:xfrm>
          <a:prstGeom prst="roundRect">
            <a:avLst>
              <a:gd name="adj" fmla="val 50000"/>
            </a:avLst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2798064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Не просто найдено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6675120" y="3182112"/>
            <a:ext cx="42793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Важно не только наличие числа, но и происхождение этого числа.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6473952" y="3566160"/>
            <a:ext cx="4681728" cy="841248"/>
          </a:xfrm>
          <a:prstGeom prst="roundRect">
            <a:avLst>
              <a:gd name="adj" fmla="val 6522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01968" y="3675888"/>
            <a:ext cx="4425696" cy="45720"/>
          </a:xfrm>
          <a:prstGeom prst="roundRect">
            <a:avLst>
              <a:gd name="adj" fmla="val 50000"/>
            </a:avLst>
          </a:prstGeom>
          <a:solidFill>
            <a:srgbClr val="38D2FF"/>
          </a:solidFill>
          <a:ln w="12700">
            <a:solidFill>
              <a:srgbClr val="38D2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3785616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Не просто автоматизация</a:t>
            </a:r>
            <a:endParaRPr lang="en-US" sz="860" dirty="0"/>
          </a:p>
        </p:txBody>
      </p:sp>
      <p:sp>
        <p:nvSpPr>
          <p:cNvPr id="28" name="Text 26"/>
          <p:cNvSpPr/>
          <p:nvPr/>
        </p:nvSpPr>
        <p:spPr>
          <a:xfrm>
            <a:off x="6675120" y="4169664"/>
            <a:ext cx="42793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Продукт уменьшает риск тихой деградации аналитики.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6473952" y="4553712"/>
            <a:ext cx="4681728" cy="841248"/>
          </a:xfrm>
          <a:prstGeom prst="roundRect">
            <a:avLst>
              <a:gd name="adj" fmla="val 6522"/>
            </a:avLst>
          </a:prstGeom>
          <a:solidFill>
            <a:srgbClr val="0D2031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01968" y="4663440"/>
            <a:ext cx="4425696" cy="45720"/>
          </a:xfrm>
          <a:prstGeom prst="roundRect">
            <a:avLst>
              <a:gd name="adj" fmla="val 50000"/>
            </a:avLst>
          </a:prstGeom>
          <a:solidFill>
            <a:srgbClr val="FFC55C"/>
          </a:solidFill>
          <a:ln w="12700">
            <a:solidFill>
              <a:srgbClr val="FFC55C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4773168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Не просто интерфейс</a:t>
            </a:r>
            <a:endParaRPr lang="en-US" sz="860" dirty="0"/>
          </a:p>
        </p:txBody>
      </p:sp>
      <p:sp>
        <p:nvSpPr>
          <p:cNvPr id="32" name="Text 30"/>
          <p:cNvSpPr/>
          <p:nvPr/>
        </p:nvSpPr>
        <p:spPr>
          <a:xfrm>
            <a:off x="6675120" y="5157216"/>
            <a:ext cx="42793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Explainability делает решение пригодным для профессионального B2B-контура.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749808" y="5852160"/>
            <a:ext cx="10625328" cy="310896"/>
          </a:xfrm>
          <a:prstGeom prst="roundRect">
            <a:avLst>
              <a:gd name="adj" fmla="val 17647"/>
            </a:avLst>
          </a:prstGeom>
          <a:solidFill>
            <a:srgbClr val="132F48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77824" y="5961888"/>
            <a:ext cx="10369296" cy="45720"/>
          </a:xfrm>
          <a:prstGeom prst="roundRect">
            <a:avLst>
              <a:gd name="adj" fmla="val 50000"/>
            </a:avLst>
          </a:prstGeom>
          <a:solidFill>
            <a:srgbClr val="38D2FF"/>
          </a:solidFill>
          <a:ln w="12700">
            <a:solidFill>
              <a:srgbClr val="38D2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0976" y="6071616"/>
            <a:ext cx="10222992" cy="-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F7F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Именно объяснимость переводит NeoFin AI из категории «интересный AI-инструмент» в категорию рабочего финансового продукта.</a:t>
            </a:r>
            <a:endParaRPr lang="en-US" sz="960" dirty="0"/>
          </a:p>
        </p:txBody>
      </p:sp>
      <p:sp>
        <p:nvSpPr>
          <p:cNvPr id="36" name="Text 34"/>
          <p:cNvSpPr/>
          <p:nvPr/>
        </p:nvSpPr>
        <p:spPr>
          <a:xfrm>
            <a:off x="713232" y="640994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NeoFin AI | основная история | 30.03.2026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10991088" y="635508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2EE6A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07</a:t>
            </a:r>
            <a:endParaRPr lang="en-US" sz="9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92608"/>
            <a:ext cx="11484864" cy="6291072"/>
          </a:xfrm>
          <a:prstGeom prst="rect">
            <a:avLst/>
          </a:prstGeom>
          <a:solidFill>
            <a:srgbClr val="05111C">
              <a:alpha val="0"/>
            </a:srgbClr>
          </a:solidFill>
          <a:ln w="12700">
            <a:solidFill>
              <a:srgbClr val="284763">
                <a:alpha val="4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84464" y="73152"/>
            <a:ext cx="3493008" cy="2340864"/>
          </a:xfrm>
          <a:prstGeom prst="ellipse">
            <a:avLst/>
          </a:prstGeom>
          <a:solidFill>
            <a:srgbClr val="38D2FF">
              <a:alpha val="12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4882896"/>
            <a:ext cx="2542032" cy="1755648"/>
          </a:xfrm>
          <a:prstGeom prst="ellipse">
            <a:avLst/>
          </a:prstGeom>
          <a:solidFill>
            <a:srgbClr val="2EE6A6">
              <a:alpha val="10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66928"/>
            <a:ext cx="1463040" cy="0"/>
          </a:xfrm>
          <a:prstGeom prst="line">
            <a:avLst/>
          </a:prstGeom>
          <a:noFill/>
          <a:ln w="12700">
            <a:solidFill>
              <a:srgbClr val="2EE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438912"/>
            <a:ext cx="1408176" cy="219456"/>
          </a:xfrm>
          <a:prstGeom prst="rect">
            <a:avLst/>
          </a:prstGeom>
          <a:solidFill>
            <a:srgbClr val="10283E"/>
          </a:solidFill>
          <a:ln>
            <a:solidFill>
              <a:srgbClr val="284763">
                <a:alpha val="42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38D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Доверие 1/3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749808" y="841248"/>
            <a:ext cx="6263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92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Продукт спроектирован под сложные, а не только под идеальные документы</a:t>
            </a:r>
            <a:endParaRPr lang="en-US" sz="1792" dirty="0"/>
          </a:p>
        </p:txBody>
      </p:sp>
      <p:sp>
        <p:nvSpPr>
          <p:cNvPr id="8" name="Text 6"/>
          <p:cNvSpPr/>
          <p:nvPr/>
        </p:nvSpPr>
        <p:spPr>
          <a:xfrm>
            <a:off x="749808" y="1709928"/>
            <a:ext cx="6263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Ценность появляется там, где у клиента неудобный PDF, скан или повреждённый текстовый слой — и всё равно нужен результат.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749808" y="1938528"/>
            <a:ext cx="5010912" cy="3639312"/>
          </a:xfrm>
          <a:prstGeom prst="roundRect">
            <a:avLst>
              <a:gd name="adj" fmla="val 1508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2048256"/>
            <a:ext cx="4754880" cy="45720"/>
          </a:xfrm>
          <a:prstGeom prst="roundRect">
            <a:avLst>
              <a:gd name="adj" fmla="val 50000"/>
            </a:avLst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2157984"/>
            <a:ext cx="4608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Три входных контура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987552" y="2651760"/>
            <a:ext cx="82296" cy="82296"/>
          </a:xfrm>
          <a:prstGeom prst="ellipse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33856" y="2578608"/>
            <a:ext cx="440740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Текстовый PDF: быстрый доступ к текстовому слою.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987552" y="2938272"/>
            <a:ext cx="82296" cy="82296"/>
          </a:xfrm>
          <a:prstGeom prst="ellipse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33856" y="2865120"/>
            <a:ext cx="440740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Таблицы: извлечение структурированных числовых блоков.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987552" y="3224784"/>
            <a:ext cx="82296" cy="82296"/>
          </a:xfrm>
          <a:prstGeom prst="ellipse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33856" y="3151632"/>
            <a:ext cx="440740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Scanned PDF: OCR-путь для тяжёлых документов и сканов.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236208" y="1938528"/>
            <a:ext cx="5120640" cy="3639312"/>
          </a:xfrm>
          <a:prstGeom prst="roundRect">
            <a:avLst>
              <a:gd name="adj" fmla="val 1508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64224" y="2048256"/>
            <a:ext cx="4864608" cy="45720"/>
          </a:xfrm>
          <a:prstGeom prst="roundRect">
            <a:avLst>
              <a:gd name="adj" fmla="val 50000"/>
            </a:avLst>
          </a:prstGeom>
          <a:solidFill>
            <a:srgbClr val="38D2FF"/>
          </a:solidFill>
          <a:ln w="12700">
            <a:solidFill>
              <a:srgbClr val="38D2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37376" y="2157984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Защитные механизмы качества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6473952" y="2578608"/>
            <a:ext cx="4681728" cy="841248"/>
          </a:xfrm>
          <a:prstGeom prst="roundRect">
            <a:avLst>
              <a:gd name="adj" fmla="val 6522"/>
            </a:avLst>
          </a:prstGeom>
          <a:solidFill>
            <a:srgbClr val="0D2031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01968" y="2688336"/>
            <a:ext cx="4425696" cy="45720"/>
          </a:xfrm>
          <a:prstGeom prst="roundRect">
            <a:avLst>
              <a:gd name="adj" fmla="val 50000"/>
            </a:avLst>
          </a:prstGeom>
          <a:solidFill>
            <a:srgbClr val="FF7A7A"/>
          </a:solidFill>
          <a:ln w="12700">
            <a:solidFill>
              <a:srgbClr val="FF7A7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2798064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Фильтры мусора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6675120" y="3182112"/>
            <a:ext cx="42793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Аномальные значения отсеиваются до аналитики.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6473952" y="3566160"/>
            <a:ext cx="4681728" cy="841248"/>
          </a:xfrm>
          <a:prstGeom prst="roundRect">
            <a:avLst>
              <a:gd name="adj" fmla="val 6522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01968" y="3675888"/>
            <a:ext cx="4425696" cy="45720"/>
          </a:xfrm>
          <a:prstGeom prst="roundRect">
            <a:avLst>
              <a:gd name="adj" fmla="val 50000"/>
            </a:avLst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3785616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Confidence filter</a:t>
            </a:r>
            <a:endParaRPr lang="en-US" sz="860" dirty="0"/>
          </a:p>
        </p:txBody>
      </p:sp>
      <p:sp>
        <p:nvSpPr>
          <p:cNvPr id="28" name="Text 26"/>
          <p:cNvSpPr/>
          <p:nvPr/>
        </p:nvSpPr>
        <p:spPr>
          <a:xfrm>
            <a:off x="6675120" y="4169664"/>
            <a:ext cx="42793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Сомнительное число не портит коэффициенты.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6473952" y="4553712"/>
            <a:ext cx="4681728" cy="841248"/>
          </a:xfrm>
          <a:prstGeom prst="roundRect">
            <a:avLst>
              <a:gd name="adj" fmla="val 6522"/>
            </a:avLst>
          </a:prstGeom>
          <a:solidFill>
            <a:srgbClr val="0D2031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01968" y="4663440"/>
            <a:ext cx="4425696" cy="45720"/>
          </a:xfrm>
          <a:prstGeom prst="roundRect">
            <a:avLst>
              <a:gd name="adj" fmla="val 50000"/>
            </a:avLst>
          </a:prstGeom>
          <a:solidFill>
            <a:srgbClr val="38D2FF"/>
          </a:solidFill>
          <a:ln w="12700">
            <a:solidFill>
              <a:srgbClr val="38D2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4773168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Regression corpus</a:t>
            </a:r>
            <a:endParaRPr lang="en-US" sz="860" dirty="0"/>
          </a:p>
        </p:txBody>
      </p:sp>
      <p:sp>
        <p:nvSpPr>
          <p:cNvPr id="32" name="Text 30"/>
          <p:cNvSpPr/>
          <p:nvPr/>
        </p:nvSpPr>
        <p:spPr>
          <a:xfrm>
            <a:off x="6675120" y="5157216"/>
            <a:ext cx="42793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Сложные кейсы закрепляются тестами, а не памятью команды.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713232" y="640994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NeoFin AI | основная история | 30.03.2026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10991088" y="635508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2EE6A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08</a:t>
            </a:r>
            <a:endParaRPr lang="en-US" sz="9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92608"/>
            <a:ext cx="11484864" cy="6291072"/>
          </a:xfrm>
          <a:prstGeom prst="rect">
            <a:avLst/>
          </a:prstGeom>
          <a:solidFill>
            <a:srgbClr val="05111C">
              <a:alpha val="0"/>
            </a:srgbClr>
          </a:solidFill>
          <a:ln w="12700">
            <a:solidFill>
              <a:srgbClr val="284763">
                <a:alpha val="4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84464" y="73152"/>
            <a:ext cx="3493008" cy="2340864"/>
          </a:xfrm>
          <a:prstGeom prst="ellipse">
            <a:avLst/>
          </a:prstGeom>
          <a:solidFill>
            <a:srgbClr val="38D2FF">
              <a:alpha val="12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4882896"/>
            <a:ext cx="2542032" cy="1755648"/>
          </a:xfrm>
          <a:prstGeom prst="ellipse">
            <a:avLst/>
          </a:prstGeom>
          <a:solidFill>
            <a:srgbClr val="2EE6A6">
              <a:alpha val="10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66928"/>
            <a:ext cx="1463040" cy="0"/>
          </a:xfrm>
          <a:prstGeom prst="line">
            <a:avLst/>
          </a:prstGeom>
          <a:noFill/>
          <a:ln w="12700">
            <a:solidFill>
              <a:srgbClr val="2EE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438912"/>
            <a:ext cx="1408176" cy="219456"/>
          </a:xfrm>
          <a:prstGeom prst="rect">
            <a:avLst/>
          </a:prstGeom>
          <a:solidFill>
            <a:srgbClr val="10283E"/>
          </a:solidFill>
          <a:ln>
            <a:solidFill>
              <a:srgbClr val="284763">
                <a:alpha val="42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38D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Доверие 2/3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749808" y="841248"/>
            <a:ext cx="6263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92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Почему результат воспроизводим и управляем, а не случайно удачен</a:t>
            </a:r>
            <a:endParaRPr lang="en-US" sz="1792" dirty="0"/>
          </a:p>
        </p:txBody>
      </p:sp>
      <p:sp>
        <p:nvSpPr>
          <p:cNvPr id="8" name="Text 6"/>
          <p:cNvSpPr/>
          <p:nvPr/>
        </p:nvSpPr>
        <p:spPr>
          <a:xfrm>
            <a:off x="749808" y="1709928"/>
            <a:ext cx="6263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Архитектура намеренно разделяет ответственность и не смешивает API, аналитику, AI и хранение.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749808" y="1938528"/>
            <a:ext cx="5010912" cy="3639312"/>
          </a:xfrm>
          <a:prstGeom prst="roundRect">
            <a:avLst>
              <a:gd name="adj" fmla="val 1508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2048256"/>
            <a:ext cx="4754880" cy="45720"/>
          </a:xfrm>
          <a:prstGeom prst="roundRect">
            <a:avLst>
              <a:gd name="adj" fmla="val 50000"/>
            </a:avLst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2157984"/>
            <a:ext cx="4608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Архитектурный принцип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987552" y="2651760"/>
            <a:ext cx="82296" cy="82296"/>
          </a:xfrm>
          <a:prstGeom prst="ellipse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33856" y="2578608"/>
            <a:ext cx="440740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Слои идут сверху вниз: routers -&gt; tasks -&gt; analysis -&gt; ai_service -&gt; db/crud.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987552" y="2938272"/>
            <a:ext cx="82296" cy="82296"/>
          </a:xfrm>
          <a:prstGeom prst="ellipse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33856" y="2865120"/>
            <a:ext cx="440740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Числовой результат и AI-интерпретация разведены в разные уровни системы.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987552" y="3364992"/>
            <a:ext cx="82296" cy="82296"/>
          </a:xfrm>
          <a:prstGeom prst="ellipse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33856" y="3291840"/>
            <a:ext cx="440740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Это упрощает тестирование, развитие и контроль качества изменений.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236208" y="1938528"/>
            <a:ext cx="5120640" cy="3639312"/>
          </a:xfrm>
          <a:prstGeom prst="roundRect">
            <a:avLst>
              <a:gd name="adj" fmla="val 1508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64224" y="2048256"/>
            <a:ext cx="4864608" cy="45720"/>
          </a:xfrm>
          <a:prstGeom prst="roundRect">
            <a:avLst>
              <a:gd name="adj" fmla="val 50000"/>
            </a:avLst>
          </a:prstGeom>
          <a:solidFill>
            <a:srgbClr val="38D2FF"/>
          </a:solidFill>
          <a:ln w="12700">
            <a:solidFill>
              <a:srgbClr val="38D2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37376" y="2157984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Что это даёт бизнесу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6473952" y="2578608"/>
            <a:ext cx="4681728" cy="841248"/>
          </a:xfrm>
          <a:prstGeom prst="roundRect">
            <a:avLst>
              <a:gd name="adj" fmla="val 6522"/>
            </a:avLst>
          </a:prstGeom>
          <a:solidFill>
            <a:srgbClr val="0D2031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01968" y="2688336"/>
            <a:ext cx="4425696" cy="45720"/>
          </a:xfrm>
          <a:prstGeom prst="roundRect">
            <a:avLst>
              <a:gd name="adj" fmla="val 50000"/>
            </a:avLst>
          </a:prstGeom>
          <a:solidFill>
            <a:srgbClr val="38D2FF"/>
          </a:solidFill>
          <a:ln w="12700">
            <a:solidFill>
              <a:srgbClr val="38D2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2798064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Повторяемость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6675120" y="3182112"/>
            <a:ext cx="42793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Одинаковый документ даёт одинаковый числовой слой.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6473952" y="3566160"/>
            <a:ext cx="4681728" cy="841248"/>
          </a:xfrm>
          <a:prstGeom prst="roundRect">
            <a:avLst>
              <a:gd name="adj" fmla="val 6522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01968" y="3675888"/>
            <a:ext cx="4425696" cy="45720"/>
          </a:xfrm>
          <a:prstGeom prst="roundRect">
            <a:avLst>
              <a:gd name="adj" fmla="val 50000"/>
            </a:avLst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3785616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Управляемость</a:t>
            </a:r>
            <a:endParaRPr lang="en-US" sz="860" dirty="0"/>
          </a:p>
        </p:txBody>
      </p:sp>
      <p:sp>
        <p:nvSpPr>
          <p:cNvPr id="28" name="Text 26"/>
          <p:cNvSpPr/>
          <p:nvPr/>
        </p:nvSpPr>
        <p:spPr>
          <a:xfrm>
            <a:off x="6675120" y="4169664"/>
            <a:ext cx="42793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Ошибки и статусы имеют явный жизненный цикл.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6473952" y="4553712"/>
            <a:ext cx="4681728" cy="841248"/>
          </a:xfrm>
          <a:prstGeom prst="roundRect">
            <a:avLst>
              <a:gd name="adj" fmla="val 6522"/>
            </a:avLst>
          </a:prstGeom>
          <a:solidFill>
            <a:srgbClr val="0D2031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01968" y="4663440"/>
            <a:ext cx="4425696" cy="45720"/>
          </a:xfrm>
          <a:prstGeom prst="roundRect">
            <a:avLst>
              <a:gd name="adj" fmla="val 50000"/>
            </a:avLst>
          </a:prstGeom>
          <a:solidFill>
            <a:srgbClr val="FFC55C"/>
          </a:solidFill>
          <a:ln w="12700">
            <a:solidFill>
              <a:srgbClr val="FFC55C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4773168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Расширяемость</a:t>
            </a:r>
            <a:endParaRPr lang="en-US" sz="860" dirty="0"/>
          </a:p>
        </p:txBody>
      </p:sp>
      <p:sp>
        <p:nvSpPr>
          <p:cNvPr id="32" name="Text 30"/>
          <p:cNvSpPr/>
          <p:nvPr/>
        </p:nvSpPr>
        <p:spPr>
          <a:xfrm>
            <a:off x="6675120" y="5157216"/>
            <a:ext cx="42793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Интеграции и новые сценарии не ломают ядро продукта.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713232" y="640994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NeoFin AI | основная история | 30.03.2026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10991088" y="635508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2EE6A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09</a:t>
            </a:r>
            <a:endParaRPr lang="en-US" sz="9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92608"/>
            <a:ext cx="11484864" cy="6291072"/>
          </a:xfrm>
          <a:prstGeom prst="rect">
            <a:avLst/>
          </a:prstGeom>
          <a:solidFill>
            <a:srgbClr val="05111C">
              <a:alpha val="0"/>
            </a:srgbClr>
          </a:solidFill>
          <a:ln w="12700">
            <a:solidFill>
              <a:srgbClr val="284763">
                <a:alpha val="4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84464" y="73152"/>
            <a:ext cx="3493008" cy="2340864"/>
          </a:xfrm>
          <a:prstGeom prst="ellipse">
            <a:avLst/>
          </a:prstGeom>
          <a:solidFill>
            <a:srgbClr val="38D2FF">
              <a:alpha val="12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4882896"/>
            <a:ext cx="2542032" cy="1755648"/>
          </a:xfrm>
          <a:prstGeom prst="ellipse">
            <a:avLst/>
          </a:prstGeom>
          <a:solidFill>
            <a:srgbClr val="2EE6A6">
              <a:alpha val="10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66928"/>
            <a:ext cx="1463040" cy="0"/>
          </a:xfrm>
          <a:prstGeom prst="line">
            <a:avLst/>
          </a:prstGeom>
          <a:noFill/>
          <a:ln w="12700">
            <a:solidFill>
              <a:srgbClr val="2EE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438912"/>
            <a:ext cx="1408176" cy="219456"/>
          </a:xfrm>
          <a:prstGeom prst="rect">
            <a:avLst/>
          </a:prstGeom>
          <a:solidFill>
            <a:srgbClr val="10283E"/>
          </a:solidFill>
          <a:ln>
            <a:solidFill>
              <a:srgbClr val="284763">
                <a:alpha val="42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38D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Доверие 3/3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749808" y="841248"/>
            <a:ext cx="6263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92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Как продукт встраивается в рабочий контур, а не живёт отдельно</a:t>
            </a:r>
            <a:endParaRPr lang="en-US" sz="1792" dirty="0"/>
          </a:p>
        </p:txBody>
      </p:sp>
      <p:sp>
        <p:nvSpPr>
          <p:cNvPr id="8" name="Text 6"/>
          <p:cNvSpPr/>
          <p:nvPr/>
        </p:nvSpPr>
        <p:spPr>
          <a:xfrm>
            <a:off x="749808" y="1709928"/>
            <a:ext cx="6263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NeoFin AI можно использовать как пользовательский сервис и как API-слой для внешних процессов.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749808" y="1938528"/>
            <a:ext cx="5010912" cy="3639312"/>
          </a:xfrm>
          <a:prstGeom prst="roundRect">
            <a:avLst>
              <a:gd name="adj" fmla="val 1508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2048256"/>
            <a:ext cx="4754880" cy="45720"/>
          </a:xfrm>
          <a:prstGeom prst="roundRect">
            <a:avLst>
              <a:gd name="adj" fmla="val 50000"/>
            </a:avLst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2157984"/>
            <a:ext cx="4608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Интеграционный путь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987552" y="2651760"/>
            <a:ext cx="82296" cy="82296"/>
          </a:xfrm>
          <a:prstGeom prst="ellipse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33856" y="2578608"/>
            <a:ext cx="440740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Старт через POST /upload с мгновенным task_id.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987552" y="2938272"/>
            <a:ext cx="82296" cy="82296"/>
          </a:xfrm>
          <a:prstGeom prst="ellipse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33856" y="2865120"/>
            <a:ext cx="440740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Статусы приходят в WebSocket в реальном времени.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987552" y="3224784"/>
            <a:ext cx="82296" cy="82296"/>
          </a:xfrm>
          <a:prstGeom prst="ellipse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33856" y="3151632"/>
            <a:ext cx="440740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Результат доступен и в UI, и через API, и в истории анализов.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236208" y="1938528"/>
            <a:ext cx="5120640" cy="3639312"/>
          </a:xfrm>
          <a:prstGeom prst="roundRect">
            <a:avLst>
              <a:gd name="adj" fmla="val 1508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64224" y="2048256"/>
            <a:ext cx="4864608" cy="45720"/>
          </a:xfrm>
          <a:prstGeom prst="roundRect">
            <a:avLst>
              <a:gd name="adj" fmla="val 50000"/>
            </a:avLst>
          </a:prstGeom>
          <a:solidFill>
            <a:srgbClr val="38D2FF"/>
          </a:solidFill>
          <a:ln w="12700">
            <a:solidFill>
              <a:srgbClr val="38D2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37376" y="2157984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Что делает интеграцию зрелой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6473952" y="2578608"/>
            <a:ext cx="4681728" cy="841248"/>
          </a:xfrm>
          <a:prstGeom prst="roundRect">
            <a:avLst>
              <a:gd name="adj" fmla="val 6522"/>
            </a:avLst>
          </a:prstGeom>
          <a:solidFill>
            <a:srgbClr val="0D2031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01968" y="2688336"/>
            <a:ext cx="4425696" cy="45720"/>
          </a:xfrm>
          <a:prstGeom prst="roundRect">
            <a:avLst>
              <a:gd name="adj" fmla="val 50000"/>
            </a:avLst>
          </a:prstGeom>
          <a:solidFill>
            <a:srgbClr val="38D2FF"/>
          </a:solidFill>
          <a:ln w="12700">
            <a:solidFill>
              <a:srgbClr val="38D2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2798064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API key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6675120" y="3182112"/>
            <a:ext cx="42793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Явная модель доступа к основным endpoint-ам.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6473952" y="3566160"/>
            <a:ext cx="4681728" cy="841248"/>
          </a:xfrm>
          <a:prstGeom prst="roundRect">
            <a:avLst>
              <a:gd name="adj" fmla="val 6522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01968" y="3675888"/>
            <a:ext cx="4425696" cy="45720"/>
          </a:xfrm>
          <a:prstGeom prst="roundRect">
            <a:avLst>
              <a:gd name="adj" fmla="val 50000"/>
            </a:avLst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3785616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Polling fallback</a:t>
            </a:r>
            <a:endParaRPr lang="en-US" sz="860" dirty="0"/>
          </a:p>
        </p:txBody>
      </p:sp>
      <p:sp>
        <p:nvSpPr>
          <p:cNvPr id="28" name="Text 26"/>
          <p:cNvSpPr/>
          <p:nvPr/>
        </p:nvSpPr>
        <p:spPr>
          <a:xfrm>
            <a:off x="6675120" y="4169664"/>
            <a:ext cx="42793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Если WS недоступен, сценарий всё равно доходит до результата.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6473952" y="4553712"/>
            <a:ext cx="4681728" cy="841248"/>
          </a:xfrm>
          <a:prstGeom prst="roundRect">
            <a:avLst>
              <a:gd name="adj" fmla="val 6522"/>
            </a:avLst>
          </a:prstGeom>
          <a:solidFill>
            <a:srgbClr val="0D2031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01968" y="4663440"/>
            <a:ext cx="4425696" cy="45720"/>
          </a:xfrm>
          <a:prstGeom prst="roundRect">
            <a:avLst>
              <a:gd name="adj" fmla="val 50000"/>
            </a:avLst>
          </a:prstGeom>
          <a:solidFill>
            <a:srgbClr val="FFC55C"/>
          </a:solidFill>
          <a:ln w="12700">
            <a:solidFill>
              <a:srgbClr val="FFC55C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4773168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История</a:t>
            </a:r>
            <a:endParaRPr lang="en-US" sz="860" dirty="0"/>
          </a:p>
        </p:txBody>
      </p:sp>
      <p:sp>
        <p:nvSpPr>
          <p:cNvPr id="32" name="Text 30"/>
          <p:cNvSpPr/>
          <p:nvPr/>
        </p:nvSpPr>
        <p:spPr>
          <a:xfrm>
            <a:off x="6675120" y="5157216"/>
            <a:ext cx="42793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Запуск не исчезает после показа: к нему можно вернуться.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713232" y="640994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NeoFin AI | основная история | 30.03.2026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10991088" y="635508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2EE6A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10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92608"/>
            <a:ext cx="11484864" cy="6291072"/>
          </a:xfrm>
          <a:prstGeom prst="rect">
            <a:avLst/>
          </a:prstGeom>
          <a:solidFill>
            <a:srgbClr val="05111C">
              <a:alpha val="0"/>
            </a:srgbClr>
          </a:solidFill>
          <a:ln w="12700">
            <a:solidFill>
              <a:srgbClr val="284763">
                <a:alpha val="4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84464" y="73152"/>
            <a:ext cx="3493008" cy="2340864"/>
          </a:xfrm>
          <a:prstGeom prst="ellipse">
            <a:avLst/>
          </a:prstGeom>
          <a:solidFill>
            <a:srgbClr val="38D2FF">
              <a:alpha val="12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4882896"/>
            <a:ext cx="2542032" cy="1755648"/>
          </a:xfrm>
          <a:prstGeom prst="ellipse">
            <a:avLst/>
          </a:prstGeom>
          <a:solidFill>
            <a:srgbClr val="2EE6A6">
              <a:alpha val="10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66928"/>
            <a:ext cx="1463040" cy="0"/>
          </a:xfrm>
          <a:prstGeom prst="line">
            <a:avLst/>
          </a:prstGeom>
          <a:noFill/>
          <a:ln w="12700">
            <a:solidFill>
              <a:srgbClr val="2EE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438912"/>
            <a:ext cx="1984248" cy="219456"/>
          </a:xfrm>
          <a:prstGeom prst="rect">
            <a:avLst/>
          </a:prstGeom>
          <a:solidFill>
            <a:srgbClr val="10283E"/>
          </a:solidFill>
          <a:ln>
            <a:solidFill>
              <a:srgbClr val="284763">
                <a:alpha val="42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38D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Доказательство 1/2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749808" y="841248"/>
            <a:ext cx="6263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92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Проект уже подтверждён не только слайдами, но и повторяемыми demo-сценариями</a:t>
            </a:r>
            <a:endParaRPr lang="en-US" sz="1792" dirty="0"/>
          </a:p>
        </p:txBody>
      </p:sp>
      <p:sp>
        <p:nvSpPr>
          <p:cNvPr id="8" name="Text 6"/>
          <p:cNvSpPr/>
          <p:nvPr/>
        </p:nvSpPr>
        <p:spPr>
          <a:xfrm>
            <a:off x="749808" y="1709928"/>
            <a:ext cx="6263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Сильная часть NeoFin AI — не обещание «можно показать», а сценарий «уже воспроизводимо показывается».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969264" y="2011680"/>
            <a:ext cx="2377440" cy="1298448"/>
          </a:xfrm>
          <a:prstGeom prst="roundRect">
            <a:avLst>
              <a:gd name="adj" fmla="val 4225"/>
            </a:avLst>
          </a:prstGeom>
          <a:solidFill>
            <a:srgbClr val="10283E"/>
          </a:solidFill>
          <a:ln w="12700">
            <a:solidFill>
              <a:srgbClr val="284763">
                <a:alpha val="4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15568" y="2176272"/>
            <a:ext cx="2084832" cy="0"/>
          </a:xfrm>
          <a:prstGeom prst="line">
            <a:avLst/>
          </a:prstGeom>
          <a:noFill/>
          <a:ln w="12700">
            <a:solidFill>
              <a:srgbClr val="38D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3856" y="2267712"/>
            <a:ext cx="2048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text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33856" y="2926080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эталонный текстовый сценарий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3602736" y="2011680"/>
            <a:ext cx="2377440" cy="1298448"/>
          </a:xfrm>
          <a:prstGeom prst="roundRect">
            <a:avLst>
              <a:gd name="adj" fmla="val 4225"/>
            </a:avLst>
          </a:prstGeom>
          <a:solidFill>
            <a:srgbClr val="10283E"/>
          </a:solidFill>
          <a:ln w="12700">
            <a:solidFill>
              <a:srgbClr val="284763">
                <a:alpha val="4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0" y="2176272"/>
            <a:ext cx="2084832" cy="0"/>
          </a:xfrm>
          <a:prstGeom prst="line">
            <a:avLst/>
          </a:prstGeom>
          <a:noFill/>
          <a:ln w="12700">
            <a:solidFill>
              <a:srgbClr val="2EE6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67328" y="2267712"/>
            <a:ext cx="2048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scanned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767328" y="2926080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OCR-heavy сценарий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6236208" y="2011680"/>
            <a:ext cx="2377440" cy="1298448"/>
          </a:xfrm>
          <a:prstGeom prst="roundRect">
            <a:avLst>
              <a:gd name="adj" fmla="val 4225"/>
            </a:avLst>
          </a:prstGeom>
          <a:solidFill>
            <a:srgbClr val="10283E"/>
          </a:solidFill>
          <a:ln w="12700">
            <a:solidFill>
              <a:srgbClr val="284763">
                <a:alpha val="4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82512" y="2176272"/>
            <a:ext cx="2084832" cy="0"/>
          </a:xfrm>
          <a:prstGeom prst="line">
            <a:avLst/>
          </a:prstGeom>
          <a:noFill/>
          <a:ln w="12700">
            <a:solidFill>
              <a:srgbClr val="FFC5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2267712"/>
            <a:ext cx="2048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multi-period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2926080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динамика по периодам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841248" y="4096512"/>
            <a:ext cx="4956048" cy="1627632"/>
          </a:xfrm>
          <a:prstGeom prst="roundRect">
            <a:avLst>
              <a:gd name="adj" fmla="val 3371"/>
            </a:avLst>
          </a:prstGeom>
          <a:solidFill>
            <a:srgbClr val="0D2031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9264" y="4206240"/>
            <a:ext cx="4700016" cy="45720"/>
          </a:xfrm>
          <a:prstGeom prst="roundRect">
            <a:avLst>
              <a:gd name="adj" fmla="val 50000"/>
            </a:avLst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42416" y="4315968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Почему это важно для жюри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1042416" y="4700016"/>
            <a:ext cx="4553712" cy="334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Демонстрация опирается на manifest-driven сценарии и headline-метрики, а не только на удачный клик в интерфейсе.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89904" y="4096512"/>
            <a:ext cx="4956048" cy="1627632"/>
          </a:xfrm>
          <a:prstGeom prst="roundRect">
            <a:avLst>
              <a:gd name="adj" fmla="val 3371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4206240"/>
            <a:ext cx="4700016" cy="45720"/>
          </a:xfrm>
          <a:prstGeom prst="roundRect">
            <a:avLst>
              <a:gd name="adj" fmla="val 50000"/>
            </a:avLst>
          </a:prstGeom>
          <a:solidFill>
            <a:srgbClr val="38D2FF"/>
          </a:solidFill>
          <a:ln w="12700">
            <a:solidFill>
              <a:srgbClr val="38D2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91072" y="4315968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Что это доказывает</a:t>
            </a:r>
            <a:endParaRPr lang="en-US" sz="860" dirty="0"/>
          </a:p>
        </p:txBody>
      </p:sp>
      <p:sp>
        <p:nvSpPr>
          <p:cNvPr id="28" name="Text 26"/>
          <p:cNvSpPr/>
          <p:nvPr/>
        </p:nvSpPr>
        <p:spPr>
          <a:xfrm>
            <a:off x="6291072" y="4700016"/>
            <a:ext cx="4553712" cy="334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 проекта уже есть инженерная дисциплина вокруг показа: smoke path, operator card и резервный сценарий.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13232" y="640994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NeoFin AI | основная история | 30.03.2026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10991088" y="635508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2EE6A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11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92608"/>
            <a:ext cx="11484864" cy="6291072"/>
          </a:xfrm>
          <a:prstGeom prst="rect">
            <a:avLst/>
          </a:prstGeom>
          <a:solidFill>
            <a:srgbClr val="05111C">
              <a:alpha val="0"/>
            </a:srgbClr>
          </a:solidFill>
          <a:ln w="12700">
            <a:solidFill>
              <a:srgbClr val="284763">
                <a:alpha val="4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84464" y="73152"/>
            <a:ext cx="3493008" cy="2340864"/>
          </a:xfrm>
          <a:prstGeom prst="ellipse">
            <a:avLst/>
          </a:prstGeom>
          <a:solidFill>
            <a:srgbClr val="38D2FF">
              <a:alpha val="12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4882896"/>
            <a:ext cx="2542032" cy="1755648"/>
          </a:xfrm>
          <a:prstGeom prst="ellipse">
            <a:avLst/>
          </a:prstGeom>
          <a:solidFill>
            <a:srgbClr val="2EE6A6">
              <a:alpha val="10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66928"/>
            <a:ext cx="1463040" cy="0"/>
          </a:xfrm>
          <a:prstGeom prst="line">
            <a:avLst/>
          </a:prstGeom>
          <a:noFill/>
          <a:ln w="12700">
            <a:solidFill>
              <a:srgbClr val="2EE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438912"/>
            <a:ext cx="1984248" cy="219456"/>
          </a:xfrm>
          <a:prstGeom prst="rect">
            <a:avLst/>
          </a:prstGeom>
          <a:solidFill>
            <a:srgbClr val="10283E"/>
          </a:solidFill>
          <a:ln>
            <a:solidFill>
              <a:srgbClr val="284763">
                <a:alpha val="42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38D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Доказательство 2/2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749808" y="841248"/>
            <a:ext cx="6263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92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Почему NeoFin AI уже выглядит как рабочий контур, а не как концепт</a:t>
            </a:r>
            <a:endParaRPr lang="en-US" sz="1792" dirty="0"/>
          </a:p>
        </p:txBody>
      </p:sp>
      <p:sp>
        <p:nvSpPr>
          <p:cNvPr id="8" name="Text 6"/>
          <p:cNvSpPr/>
          <p:nvPr/>
        </p:nvSpPr>
        <p:spPr>
          <a:xfrm>
            <a:off x="749808" y="1709928"/>
            <a:ext cx="6263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Система умеет не только анализировать, но и стабильно проживать жизненный цикл выполнения задачи.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749808" y="1938528"/>
            <a:ext cx="5010912" cy="3639312"/>
          </a:xfrm>
          <a:prstGeom prst="roundRect">
            <a:avLst>
              <a:gd name="adj" fmla="val 1508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2048256"/>
            <a:ext cx="4754880" cy="45720"/>
          </a:xfrm>
          <a:prstGeom prst="roundRect">
            <a:avLst>
              <a:gd name="adj" fmla="val 50000"/>
            </a:avLst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2157984"/>
            <a:ext cx="4608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Что уже есть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987552" y="2651760"/>
            <a:ext cx="82296" cy="82296"/>
          </a:xfrm>
          <a:prstGeom prst="ellipse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33856" y="2578608"/>
            <a:ext cx="440740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Два runtime-режима: background и celery.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987552" y="2938272"/>
            <a:ext cx="82296" cy="82296"/>
          </a:xfrm>
          <a:prstGeom prst="ellipse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33856" y="2865120"/>
            <a:ext cx="440740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Статусы в реальном времени: extracting, scoring, analyzing, completed, cancelled, failed.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987552" y="3364992"/>
            <a:ext cx="82296" cy="82296"/>
          </a:xfrm>
          <a:prstGeom prst="ellipse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33856" y="3291840"/>
            <a:ext cx="440740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Runbook и operator card для повторяемой демонстрации и репетиции.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236208" y="1938528"/>
            <a:ext cx="5120640" cy="3639312"/>
          </a:xfrm>
          <a:prstGeom prst="roundRect">
            <a:avLst>
              <a:gd name="adj" fmla="val 1508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64224" y="2048256"/>
            <a:ext cx="4864608" cy="45720"/>
          </a:xfrm>
          <a:prstGeom prst="roundRect">
            <a:avLst>
              <a:gd name="adj" fmla="val 50000"/>
            </a:avLst>
          </a:prstGeom>
          <a:solidFill>
            <a:srgbClr val="38D2FF"/>
          </a:solidFill>
          <a:ln w="12700">
            <a:solidFill>
              <a:srgbClr val="38D2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37376" y="2157984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Чем это отличается от сырого MVP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6473952" y="2578608"/>
            <a:ext cx="4681728" cy="841248"/>
          </a:xfrm>
          <a:prstGeom prst="roundRect">
            <a:avLst>
              <a:gd name="adj" fmla="val 6522"/>
            </a:avLst>
          </a:prstGeom>
          <a:solidFill>
            <a:srgbClr val="0D2031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01968" y="2688336"/>
            <a:ext cx="4425696" cy="45720"/>
          </a:xfrm>
          <a:prstGeom prst="roundRect">
            <a:avLst>
              <a:gd name="adj" fmla="val 50000"/>
            </a:avLst>
          </a:prstGeom>
          <a:solidFill>
            <a:srgbClr val="38D2FF"/>
          </a:solidFill>
          <a:ln w="12700">
            <a:solidFill>
              <a:srgbClr val="38D2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2798064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Не только логика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6675120" y="3182112"/>
            <a:ext cx="42793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Продуман и слой исполнения, а не только extraction core.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6473952" y="3566160"/>
            <a:ext cx="4681728" cy="841248"/>
          </a:xfrm>
          <a:prstGeom prst="roundRect">
            <a:avLst>
              <a:gd name="adj" fmla="val 6522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01968" y="3675888"/>
            <a:ext cx="4425696" cy="45720"/>
          </a:xfrm>
          <a:prstGeom prst="roundRect">
            <a:avLst>
              <a:gd name="adj" fmla="val 50000"/>
            </a:avLst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3785616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Не только happy path</a:t>
            </a:r>
            <a:endParaRPr lang="en-US" sz="860" dirty="0"/>
          </a:p>
        </p:txBody>
      </p:sp>
      <p:sp>
        <p:nvSpPr>
          <p:cNvPr id="28" name="Text 26"/>
          <p:cNvSpPr/>
          <p:nvPr/>
        </p:nvSpPr>
        <p:spPr>
          <a:xfrm>
            <a:off x="6675120" y="4169664"/>
            <a:ext cx="42793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Есть fallback, history, status lifecycle и backup-contour.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6473952" y="4553712"/>
            <a:ext cx="4681728" cy="841248"/>
          </a:xfrm>
          <a:prstGeom prst="roundRect">
            <a:avLst>
              <a:gd name="adj" fmla="val 6522"/>
            </a:avLst>
          </a:prstGeom>
          <a:solidFill>
            <a:srgbClr val="0D2031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01968" y="4663440"/>
            <a:ext cx="4425696" cy="45720"/>
          </a:xfrm>
          <a:prstGeom prst="roundRect">
            <a:avLst>
              <a:gd name="adj" fmla="val 50000"/>
            </a:avLst>
          </a:prstGeom>
          <a:solidFill>
            <a:srgbClr val="FFC55C"/>
          </a:solidFill>
          <a:ln w="12700">
            <a:solidFill>
              <a:srgbClr val="FFC55C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4773168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Не только demo</a:t>
            </a:r>
            <a:endParaRPr lang="en-US" sz="860" dirty="0"/>
          </a:p>
        </p:txBody>
      </p:sp>
      <p:sp>
        <p:nvSpPr>
          <p:cNvPr id="32" name="Text 30"/>
          <p:cNvSpPr/>
          <p:nvPr/>
        </p:nvSpPr>
        <p:spPr>
          <a:xfrm>
            <a:off x="6675120" y="5157216"/>
            <a:ext cx="42793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Архитектура уже совместима с пилотной эксплуатацией.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713232" y="640994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NeoFin AI | основная история | 30.03.2026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10991088" y="635508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2EE6A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12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92608"/>
            <a:ext cx="11484864" cy="6291072"/>
          </a:xfrm>
          <a:prstGeom prst="rect">
            <a:avLst/>
          </a:prstGeom>
          <a:solidFill>
            <a:srgbClr val="05111C">
              <a:alpha val="0"/>
            </a:srgbClr>
          </a:solidFill>
          <a:ln w="12700">
            <a:solidFill>
              <a:srgbClr val="284763">
                <a:alpha val="4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84464" y="73152"/>
            <a:ext cx="3493008" cy="2340864"/>
          </a:xfrm>
          <a:prstGeom prst="ellipse">
            <a:avLst/>
          </a:prstGeom>
          <a:solidFill>
            <a:srgbClr val="38D2FF">
              <a:alpha val="12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4882896"/>
            <a:ext cx="2542032" cy="1755648"/>
          </a:xfrm>
          <a:prstGeom prst="ellipse">
            <a:avLst/>
          </a:prstGeom>
          <a:solidFill>
            <a:srgbClr val="2EE6A6">
              <a:alpha val="10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66928"/>
            <a:ext cx="1463040" cy="0"/>
          </a:xfrm>
          <a:prstGeom prst="line">
            <a:avLst/>
          </a:prstGeom>
          <a:noFill/>
          <a:ln w="12700">
            <a:solidFill>
              <a:srgbClr val="2EE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438912"/>
            <a:ext cx="1325880" cy="219456"/>
          </a:xfrm>
          <a:prstGeom prst="rect">
            <a:avLst/>
          </a:prstGeom>
          <a:solidFill>
            <a:srgbClr val="10283E"/>
          </a:solidFill>
          <a:ln>
            <a:solidFill>
              <a:srgbClr val="284763">
                <a:alpha val="42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38D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Бизнес 1/3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749808" y="841248"/>
            <a:ext cx="6263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92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Кто платит и почему: NeoFin AI — это B2B-продукт в первую очередь</a:t>
            </a:r>
            <a:endParaRPr lang="en-US" sz="1792" dirty="0"/>
          </a:p>
        </p:txBody>
      </p:sp>
      <p:sp>
        <p:nvSpPr>
          <p:cNvPr id="8" name="Text 6"/>
          <p:cNvSpPr/>
          <p:nvPr/>
        </p:nvSpPr>
        <p:spPr>
          <a:xfrm>
            <a:off x="749808" y="1709928"/>
            <a:ext cx="6263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Коммерческий потенциал строится не на массовом трафике, а на регулярной профессиональной боли.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969264" y="2011680"/>
            <a:ext cx="3246120" cy="1298448"/>
          </a:xfrm>
          <a:prstGeom prst="roundRect">
            <a:avLst>
              <a:gd name="adj" fmla="val 4225"/>
            </a:avLst>
          </a:prstGeom>
          <a:solidFill>
            <a:srgbClr val="10283E"/>
          </a:solidFill>
          <a:ln w="12700">
            <a:solidFill>
              <a:srgbClr val="284763">
                <a:alpha val="4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15568" y="2176272"/>
            <a:ext cx="2953512" cy="0"/>
          </a:xfrm>
          <a:prstGeom prst="line">
            <a:avLst/>
          </a:prstGeom>
          <a:noFill/>
          <a:ln w="12700">
            <a:solidFill>
              <a:srgbClr val="2EE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3856" y="2267712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B2B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33856" y="2926080"/>
            <a:ext cx="2916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основной драйвер выручки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4471416" y="2011680"/>
            <a:ext cx="2286000" cy="1298448"/>
          </a:xfrm>
          <a:prstGeom prst="roundRect">
            <a:avLst>
              <a:gd name="adj" fmla="val 4225"/>
            </a:avLst>
          </a:prstGeom>
          <a:solidFill>
            <a:srgbClr val="10283E"/>
          </a:solidFill>
          <a:ln w="12700">
            <a:solidFill>
              <a:srgbClr val="284763">
                <a:alpha val="4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2176272"/>
            <a:ext cx="1993392" cy="0"/>
          </a:xfrm>
          <a:prstGeom prst="line">
            <a:avLst/>
          </a:prstGeom>
          <a:noFill/>
          <a:ln w="12700">
            <a:solidFill>
              <a:srgbClr val="38D2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36008" y="2267712"/>
            <a:ext cx="1956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Регулярность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36008" y="2926080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повторяемый поток документов и сценариев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7013448" y="2011680"/>
            <a:ext cx="2377440" cy="1298448"/>
          </a:xfrm>
          <a:prstGeom prst="roundRect">
            <a:avLst>
              <a:gd name="adj" fmla="val 4225"/>
            </a:avLst>
          </a:prstGeom>
          <a:solidFill>
            <a:srgbClr val="10283E"/>
          </a:solidFill>
          <a:ln w="12700">
            <a:solidFill>
              <a:srgbClr val="284763">
                <a:alpha val="4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59752" y="2176272"/>
            <a:ext cx="2084832" cy="0"/>
          </a:xfrm>
          <a:prstGeom prst="line">
            <a:avLst/>
          </a:prstGeom>
          <a:noFill/>
          <a:ln w="12700">
            <a:solidFill>
              <a:srgbClr val="FFC5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78040" y="2267712"/>
            <a:ext cx="2048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Экономия труда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178040" y="2926080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ценность легко объяснить языком времени и затрат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841248" y="4096512"/>
            <a:ext cx="4956048" cy="1627632"/>
          </a:xfrm>
          <a:prstGeom prst="roundRect">
            <a:avLst>
              <a:gd name="adj" fmla="val 3371"/>
            </a:avLst>
          </a:prstGeom>
          <a:solidFill>
            <a:srgbClr val="0D2031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9264" y="4206240"/>
            <a:ext cx="4700016" cy="45720"/>
          </a:xfrm>
          <a:prstGeom prst="roundRect">
            <a:avLst>
              <a:gd name="adj" fmla="val 50000"/>
            </a:avLst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42416" y="4315968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Приоритетные сегменты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1042416" y="4700016"/>
            <a:ext cx="4553712" cy="334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Финансовый аутсорсинг, аудит, консалтинг, финслужбы среднего бизнеса, отдельные риск-команды.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89904" y="4096512"/>
            <a:ext cx="4956048" cy="1627632"/>
          </a:xfrm>
          <a:prstGeom prst="roundRect">
            <a:avLst>
              <a:gd name="adj" fmla="val 3371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4206240"/>
            <a:ext cx="4700016" cy="45720"/>
          </a:xfrm>
          <a:prstGeom prst="roundRect">
            <a:avLst>
              <a:gd name="adj" fmla="val 50000"/>
            </a:avLst>
          </a:prstGeom>
          <a:solidFill>
            <a:srgbClr val="38D2FF"/>
          </a:solidFill>
          <a:ln w="12700">
            <a:solidFill>
              <a:srgbClr val="38D2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91072" y="4315968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Почему не B2C как основа</a:t>
            </a:r>
            <a:endParaRPr lang="en-US" sz="860" dirty="0"/>
          </a:p>
        </p:txBody>
      </p:sp>
      <p:sp>
        <p:nvSpPr>
          <p:cNvPr id="28" name="Text 26"/>
          <p:cNvSpPr/>
          <p:nvPr/>
        </p:nvSpPr>
        <p:spPr>
          <a:xfrm>
            <a:off x="6291072" y="4700016"/>
            <a:ext cx="4553712" cy="334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B2C полезен как дополнительная воронка, но не даёт той глубины монетизации и контрактной устойчивости, что B2B.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13232" y="640994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NeoFin AI | основная история | 30.03.2026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10991088" y="635508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2EE6A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13</a:t>
            </a:r>
            <a:endParaRPr lang="en-US" sz="9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92608"/>
            <a:ext cx="11484864" cy="6291072"/>
          </a:xfrm>
          <a:prstGeom prst="rect">
            <a:avLst/>
          </a:prstGeom>
          <a:solidFill>
            <a:srgbClr val="05111C">
              <a:alpha val="0"/>
            </a:srgbClr>
          </a:solidFill>
          <a:ln w="12700">
            <a:solidFill>
              <a:srgbClr val="284763">
                <a:alpha val="4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84464" y="73152"/>
            <a:ext cx="3493008" cy="2340864"/>
          </a:xfrm>
          <a:prstGeom prst="ellipse">
            <a:avLst/>
          </a:prstGeom>
          <a:solidFill>
            <a:srgbClr val="38D2FF">
              <a:alpha val="12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4882896"/>
            <a:ext cx="2542032" cy="1755648"/>
          </a:xfrm>
          <a:prstGeom prst="ellipse">
            <a:avLst/>
          </a:prstGeom>
          <a:solidFill>
            <a:srgbClr val="2EE6A6">
              <a:alpha val="10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66928"/>
            <a:ext cx="1463040" cy="0"/>
          </a:xfrm>
          <a:prstGeom prst="line">
            <a:avLst/>
          </a:prstGeom>
          <a:noFill/>
          <a:ln w="12700">
            <a:solidFill>
              <a:srgbClr val="2EE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438912"/>
            <a:ext cx="1325880" cy="219456"/>
          </a:xfrm>
          <a:prstGeom prst="rect">
            <a:avLst/>
          </a:prstGeom>
          <a:solidFill>
            <a:srgbClr val="10283E"/>
          </a:solidFill>
          <a:ln>
            <a:solidFill>
              <a:srgbClr val="284763">
                <a:alpha val="42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38D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Бизнес 2/3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749808" y="841248"/>
            <a:ext cx="6263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92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Где первая волна клиентов и как работает модель монетизации</a:t>
            </a:r>
            <a:endParaRPr lang="en-US" sz="1792" dirty="0"/>
          </a:p>
        </p:txBody>
      </p:sp>
      <p:sp>
        <p:nvSpPr>
          <p:cNvPr id="8" name="Text 6"/>
          <p:cNvSpPr/>
          <p:nvPr/>
        </p:nvSpPr>
        <p:spPr>
          <a:xfrm>
            <a:off x="749808" y="1709928"/>
            <a:ext cx="6263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Стартовый сегмент выбирается по скорости сделки и лёгкости доказательства ценности, а не только по размеру рынка.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749808" y="1938528"/>
            <a:ext cx="5010912" cy="3639312"/>
          </a:xfrm>
          <a:prstGeom prst="roundRect">
            <a:avLst>
              <a:gd name="adj" fmla="val 1508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2048256"/>
            <a:ext cx="4754880" cy="45720"/>
          </a:xfrm>
          <a:prstGeom prst="roundRect">
            <a:avLst>
              <a:gd name="adj" fmla="val 50000"/>
            </a:avLst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2157984"/>
            <a:ext cx="4608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Первая волна коммерциализации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987552" y="2651760"/>
            <a:ext cx="82296" cy="82296"/>
          </a:xfrm>
          <a:prstGeom prst="ellipse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33856" y="2578608"/>
            <a:ext cx="440740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Аутсорсинговые финансовые команды.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987552" y="2938272"/>
            <a:ext cx="82296" cy="82296"/>
          </a:xfrm>
          <a:prstGeom prst="ellipse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33856" y="2865120"/>
            <a:ext cx="440740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Бухгалтерские и аудиторские практики.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987552" y="3224784"/>
            <a:ext cx="82296" cy="82296"/>
          </a:xfrm>
          <a:prstGeom prst="ellipse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33856" y="3151632"/>
            <a:ext cx="440740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Небольшие и средние консалтинговые компании.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236208" y="1938528"/>
            <a:ext cx="5120640" cy="3639312"/>
          </a:xfrm>
          <a:prstGeom prst="roundRect">
            <a:avLst>
              <a:gd name="adj" fmla="val 1508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64224" y="2048256"/>
            <a:ext cx="4864608" cy="45720"/>
          </a:xfrm>
          <a:prstGeom prst="roundRect">
            <a:avLst>
              <a:gd name="adj" fmla="val 50000"/>
            </a:avLst>
          </a:prstGeom>
          <a:solidFill>
            <a:srgbClr val="38D2FF"/>
          </a:solidFill>
          <a:ln w="12700">
            <a:solidFill>
              <a:srgbClr val="38D2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37376" y="2157984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Как проект зарабатывает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6473952" y="2578608"/>
            <a:ext cx="4681728" cy="841248"/>
          </a:xfrm>
          <a:prstGeom prst="roundRect">
            <a:avLst>
              <a:gd name="adj" fmla="val 6522"/>
            </a:avLst>
          </a:prstGeom>
          <a:solidFill>
            <a:srgbClr val="0D2031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01968" y="2688336"/>
            <a:ext cx="4425696" cy="45720"/>
          </a:xfrm>
          <a:prstGeom prst="roundRect">
            <a:avLst>
              <a:gd name="adj" fmla="val 50000"/>
            </a:avLst>
          </a:prstGeom>
          <a:solidFill>
            <a:srgbClr val="38D2FF"/>
          </a:solidFill>
          <a:ln w="12700">
            <a:solidFill>
              <a:srgbClr val="38D2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2798064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Облачная подписка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6675120" y="3182112"/>
            <a:ext cx="42793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Быстрый вход, пилоты, повторяемый сервисный сценарий.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6473952" y="3566160"/>
            <a:ext cx="4681728" cy="841248"/>
          </a:xfrm>
          <a:prstGeom prst="roundRect">
            <a:avLst>
              <a:gd name="adj" fmla="val 6522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01968" y="3675888"/>
            <a:ext cx="4425696" cy="45720"/>
          </a:xfrm>
          <a:prstGeom prst="roundRect">
            <a:avLst>
              <a:gd name="adj" fmla="val 50000"/>
            </a:avLst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3785616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Корпоративный пакет</a:t>
            </a:r>
            <a:endParaRPr lang="en-US" sz="860" dirty="0"/>
          </a:p>
        </p:txBody>
      </p:sp>
      <p:sp>
        <p:nvSpPr>
          <p:cNvPr id="28" name="Text 26"/>
          <p:cNvSpPr/>
          <p:nvPr/>
        </p:nvSpPr>
        <p:spPr>
          <a:xfrm>
            <a:off x="6675120" y="4169664"/>
            <a:ext cx="42793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Командное использование и интеграционный контур для B2B.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6473952" y="4553712"/>
            <a:ext cx="4681728" cy="841248"/>
          </a:xfrm>
          <a:prstGeom prst="roundRect">
            <a:avLst>
              <a:gd name="adj" fmla="val 6522"/>
            </a:avLst>
          </a:prstGeom>
          <a:solidFill>
            <a:srgbClr val="0D2031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01968" y="4663440"/>
            <a:ext cx="4425696" cy="45720"/>
          </a:xfrm>
          <a:prstGeom prst="roundRect">
            <a:avLst>
              <a:gd name="adj" fmla="val 50000"/>
            </a:avLst>
          </a:prstGeom>
          <a:solidFill>
            <a:srgbClr val="FFC55C"/>
          </a:solidFill>
          <a:ln w="12700">
            <a:solidFill>
              <a:srgbClr val="FFC55C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4773168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Частный контур</a:t>
            </a:r>
            <a:endParaRPr lang="en-US" sz="860" dirty="0"/>
          </a:p>
        </p:txBody>
      </p:sp>
      <p:sp>
        <p:nvSpPr>
          <p:cNvPr id="32" name="Text 30"/>
          <p:cNvSpPr/>
          <p:nvPr/>
        </p:nvSpPr>
        <p:spPr>
          <a:xfrm>
            <a:off x="6675120" y="5157216"/>
            <a:ext cx="42793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Отдельная ценность для клиентов с чувствительными данными и локальным размещением.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713232" y="640994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NeoFin AI | основная история | 30.03.2026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10991088" y="635508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2EE6A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14</a:t>
            </a:r>
            <a:endParaRPr lang="en-US" sz="9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92608"/>
            <a:ext cx="11484864" cy="6291072"/>
          </a:xfrm>
          <a:prstGeom prst="rect">
            <a:avLst/>
          </a:prstGeom>
          <a:solidFill>
            <a:srgbClr val="05111C">
              <a:alpha val="0"/>
            </a:srgbClr>
          </a:solidFill>
          <a:ln w="12700">
            <a:solidFill>
              <a:srgbClr val="284763">
                <a:alpha val="4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84464" y="73152"/>
            <a:ext cx="3493008" cy="2340864"/>
          </a:xfrm>
          <a:prstGeom prst="ellipse">
            <a:avLst/>
          </a:prstGeom>
          <a:solidFill>
            <a:srgbClr val="38D2FF">
              <a:alpha val="12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4882896"/>
            <a:ext cx="2542032" cy="1755648"/>
          </a:xfrm>
          <a:prstGeom prst="ellipse">
            <a:avLst/>
          </a:prstGeom>
          <a:solidFill>
            <a:srgbClr val="2EE6A6">
              <a:alpha val="10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66928"/>
            <a:ext cx="1463040" cy="0"/>
          </a:xfrm>
          <a:prstGeom prst="line">
            <a:avLst/>
          </a:prstGeom>
          <a:noFill/>
          <a:ln w="12700">
            <a:solidFill>
              <a:srgbClr val="2EE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438912"/>
            <a:ext cx="1325880" cy="219456"/>
          </a:xfrm>
          <a:prstGeom prst="rect">
            <a:avLst/>
          </a:prstGeom>
          <a:solidFill>
            <a:srgbClr val="10283E"/>
          </a:solidFill>
          <a:ln>
            <a:solidFill>
              <a:srgbClr val="284763">
                <a:alpha val="42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38D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Бизнес 3/3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749808" y="841248"/>
            <a:ext cx="6263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92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Почему проект выглядит сильным кандидатом уже сейчас</a:t>
            </a:r>
            <a:endParaRPr lang="en-US" sz="1792" dirty="0"/>
          </a:p>
        </p:txBody>
      </p:sp>
      <p:sp>
        <p:nvSpPr>
          <p:cNvPr id="8" name="Text 6"/>
          <p:cNvSpPr/>
          <p:nvPr/>
        </p:nvSpPr>
        <p:spPr>
          <a:xfrm>
            <a:off x="749808" y="1709928"/>
            <a:ext cx="6263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История сходится в одну линию: боль понятна, продукт реален, демо повторяемо, коммерческий вход в рынок не надуман.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969264" y="2011680"/>
            <a:ext cx="3246120" cy="1298448"/>
          </a:xfrm>
          <a:prstGeom prst="roundRect">
            <a:avLst>
              <a:gd name="adj" fmla="val 4225"/>
            </a:avLst>
          </a:prstGeom>
          <a:solidFill>
            <a:srgbClr val="10283E"/>
          </a:solidFill>
          <a:ln w="12700">
            <a:solidFill>
              <a:srgbClr val="284763">
                <a:alpha val="4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15568" y="2176272"/>
            <a:ext cx="2953512" cy="0"/>
          </a:xfrm>
          <a:prstGeom prst="line">
            <a:avLst/>
          </a:prstGeom>
          <a:noFill/>
          <a:ln w="12700">
            <a:solidFill>
              <a:srgbClr val="38D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3856" y="2267712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Проблема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33856" y="2926080"/>
            <a:ext cx="2916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чёткая и дорогая для бизнеса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4471416" y="2011680"/>
            <a:ext cx="3246120" cy="1298448"/>
          </a:xfrm>
          <a:prstGeom prst="roundRect">
            <a:avLst>
              <a:gd name="adj" fmla="val 4225"/>
            </a:avLst>
          </a:prstGeom>
          <a:solidFill>
            <a:srgbClr val="10283E"/>
          </a:solidFill>
          <a:ln w="12700">
            <a:solidFill>
              <a:srgbClr val="284763">
                <a:alpha val="4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2176272"/>
            <a:ext cx="2953512" cy="0"/>
          </a:xfrm>
          <a:prstGeom prst="line">
            <a:avLst/>
          </a:prstGeom>
          <a:noFill/>
          <a:ln w="12700">
            <a:solidFill>
              <a:srgbClr val="2EE6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36008" y="2267712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Продукт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36008" y="2926080"/>
            <a:ext cx="2916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объяснимый и инженерно зрелый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7973568" y="2011680"/>
            <a:ext cx="3246120" cy="1298448"/>
          </a:xfrm>
          <a:prstGeom prst="roundRect">
            <a:avLst>
              <a:gd name="adj" fmla="val 4225"/>
            </a:avLst>
          </a:prstGeom>
          <a:solidFill>
            <a:srgbClr val="10283E"/>
          </a:solidFill>
          <a:ln w="12700">
            <a:solidFill>
              <a:srgbClr val="284763">
                <a:alpha val="4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19872" y="2176272"/>
            <a:ext cx="2953512" cy="0"/>
          </a:xfrm>
          <a:prstGeom prst="line">
            <a:avLst/>
          </a:prstGeom>
          <a:noFill/>
          <a:ln w="12700">
            <a:solidFill>
              <a:srgbClr val="FFC5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0" y="2267712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Рост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138160" y="2926080"/>
            <a:ext cx="2916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понятен путь от конкурса к пилотам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841248" y="4096512"/>
            <a:ext cx="4956048" cy="1627632"/>
          </a:xfrm>
          <a:prstGeom prst="roundRect">
            <a:avLst>
              <a:gd name="adj" fmla="val 3371"/>
            </a:avLst>
          </a:prstGeom>
          <a:solidFill>
            <a:srgbClr val="0D2031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9264" y="4206240"/>
            <a:ext cx="4700016" cy="45720"/>
          </a:xfrm>
          <a:prstGeom prst="roundRect">
            <a:avLst>
              <a:gd name="adj" fmla="val 50000"/>
            </a:avLst>
          </a:prstGeom>
          <a:solidFill>
            <a:srgbClr val="38D2FF"/>
          </a:solidFill>
          <a:ln w="12700">
            <a:solidFill>
              <a:srgbClr val="38D2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42416" y="4315968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Roadmap после финала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1042416" y="4700016"/>
            <a:ext cx="4553712" cy="334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hardening, backup/restore, performance-pass, interactive OCR corrections, усиление корпоративного контура.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89904" y="4096512"/>
            <a:ext cx="4956048" cy="1627632"/>
          </a:xfrm>
          <a:prstGeom prst="roundRect">
            <a:avLst>
              <a:gd name="adj" fmla="val 3371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4206240"/>
            <a:ext cx="4700016" cy="45720"/>
          </a:xfrm>
          <a:prstGeom prst="roundRect">
            <a:avLst>
              <a:gd name="adj" fmla="val 50000"/>
            </a:avLst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91072" y="4315968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Итоговый тезис</a:t>
            </a:r>
            <a:endParaRPr lang="en-US" sz="860" dirty="0"/>
          </a:p>
        </p:txBody>
      </p:sp>
      <p:sp>
        <p:nvSpPr>
          <p:cNvPr id="28" name="Text 26"/>
          <p:cNvSpPr/>
          <p:nvPr/>
        </p:nvSpPr>
        <p:spPr>
          <a:xfrm>
            <a:off x="6291072" y="4700016"/>
            <a:ext cx="4553712" cy="334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NeoFin AI — это не красивая оболочка вокруг AI, а профессиональный продукт, который можно развивать в пилоты и внедрение.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13232" y="640994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NeoFin AI | основная история | 30.03.2026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10991088" y="635508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2EE6A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15</a:t>
            </a:r>
            <a:endParaRPr lang="en-US" sz="9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5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92608"/>
            <a:ext cx="11484864" cy="6291072"/>
          </a:xfrm>
          <a:prstGeom prst="rect">
            <a:avLst/>
          </a:prstGeom>
          <a:solidFill>
            <a:srgbClr val="05111C">
              <a:alpha val="0"/>
            </a:srgbClr>
          </a:solidFill>
          <a:ln w="12700">
            <a:solidFill>
              <a:srgbClr val="284763">
                <a:alpha val="2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84464" y="73152"/>
            <a:ext cx="3493008" cy="2340864"/>
          </a:xfrm>
          <a:prstGeom prst="ellipse">
            <a:avLst/>
          </a:prstGeom>
          <a:solidFill>
            <a:srgbClr val="173247">
              <a:alpha val="16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4882896"/>
            <a:ext cx="2542032" cy="1755648"/>
          </a:xfrm>
          <a:prstGeom prst="ellipse">
            <a:avLst/>
          </a:prstGeom>
          <a:solidFill>
            <a:srgbClr val="27435B">
              <a:alpha val="12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66928"/>
            <a:ext cx="1463040" cy="0"/>
          </a:xfrm>
          <a:prstGeom prst="line">
            <a:avLst/>
          </a:prstGeom>
          <a:noFill/>
          <a:ln w="12700">
            <a:solidFill>
              <a:srgbClr val="38D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28048" y="493776"/>
            <a:ext cx="1847088" cy="219456"/>
          </a:xfrm>
          <a:prstGeom prst="rect">
            <a:avLst/>
          </a:prstGeom>
          <a:solidFill>
            <a:srgbClr val="0D2031"/>
          </a:solidFill>
          <a:ln>
            <a:solidFill>
              <a:srgbClr val="284763">
                <a:alpha val="3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ПРИЛОЖЕНИЕ / ОТВЕТЫ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749808" y="438912"/>
            <a:ext cx="1490472" cy="219456"/>
          </a:xfrm>
          <a:prstGeom prst="rect">
            <a:avLst/>
          </a:prstGeom>
          <a:solidFill>
            <a:srgbClr val="10283E"/>
          </a:solidFill>
          <a:ln>
            <a:solidFill>
              <a:srgbClr val="284763">
                <a:alpha val="42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38D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Приложение 1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749808" y="841248"/>
            <a:ext cx="6812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11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15 базовых финансовых метрик в текущем контракте продукта</a:t>
            </a:r>
            <a:endParaRPr lang="en-US" sz="1811" dirty="0"/>
          </a:p>
        </p:txBody>
      </p:sp>
      <p:sp>
        <p:nvSpPr>
          <p:cNvPr id="9" name="Text 7"/>
          <p:cNvSpPr/>
          <p:nvPr/>
        </p:nvSpPr>
        <p:spPr>
          <a:xfrm>
            <a:off x="749808" y="1545336"/>
            <a:ext cx="6812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Справочный deep dive для вопросов о составе извлекаемых данных.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41248" y="1920240"/>
            <a:ext cx="3236976" cy="1389888"/>
          </a:xfrm>
          <a:prstGeom prst="roundRect">
            <a:avLst>
              <a:gd name="adj" fmla="val 3947"/>
            </a:avLst>
          </a:prstGeom>
          <a:solidFill>
            <a:srgbClr val="0D2031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9264" y="2029968"/>
            <a:ext cx="2980944" cy="45720"/>
          </a:xfrm>
          <a:prstGeom prst="roundRect">
            <a:avLst>
              <a:gd name="adj" fmla="val 50000"/>
            </a:avLst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213969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core financials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1042416" y="2523744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revenue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net_profit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total_assets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equity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liabilities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4334256" y="1920240"/>
            <a:ext cx="3236976" cy="1389888"/>
          </a:xfrm>
          <a:prstGeom prst="roundRect">
            <a:avLst>
              <a:gd name="adj" fmla="val 3947"/>
            </a:avLst>
          </a:prstGeom>
          <a:solidFill>
            <a:srgbClr val="0D2031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62272" y="2029968"/>
            <a:ext cx="2980944" cy="45720"/>
          </a:xfrm>
          <a:prstGeom prst="roundRect">
            <a:avLst>
              <a:gd name="adj" fmla="val 50000"/>
            </a:avLst>
          </a:prstGeom>
          <a:solidFill>
            <a:srgbClr val="38D2FF"/>
          </a:solidFill>
          <a:ln w="12700">
            <a:solidFill>
              <a:srgbClr val="38D2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35424" y="213969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balance context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4535424" y="2523744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current_assets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short_term_liabilities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accounts_receivable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inventory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cash_and_equivalents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827264" y="1920240"/>
            <a:ext cx="3236976" cy="1389888"/>
          </a:xfrm>
          <a:prstGeom prst="roundRect">
            <a:avLst>
              <a:gd name="adj" fmla="val 3947"/>
            </a:avLst>
          </a:prstGeom>
          <a:solidFill>
            <a:srgbClr val="0D2031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0" y="2029968"/>
            <a:ext cx="2980944" cy="45720"/>
          </a:xfrm>
          <a:prstGeom prst="roundRect">
            <a:avLst>
              <a:gd name="adj" fmla="val 50000"/>
            </a:avLst>
          </a:prstGeom>
          <a:solidFill>
            <a:srgbClr val="FFC55C"/>
          </a:solidFill>
          <a:ln w="12700">
            <a:solidFill>
              <a:srgbClr val="FFC55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28432" y="213969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extended inputs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8028432" y="2523744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ebitda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ebit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interest_expense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cost_of_goods_sold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average_inventory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841248" y="5806440"/>
            <a:ext cx="10515600" cy="329184"/>
          </a:xfrm>
          <a:prstGeom prst="roundRect">
            <a:avLst>
              <a:gd name="adj" fmla="val 16667"/>
            </a:avLst>
          </a:prstGeom>
          <a:solidFill>
            <a:srgbClr val="132F48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9264" y="5916168"/>
            <a:ext cx="10259568" cy="45720"/>
          </a:xfrm>
          <a:prstGeom prst="roundRect">
            <a:avLst>
              <a:gd name="adj" fmla="val 50000"/>
            </a:avLst>
          </a:prstGeom>
          <a:solidFill>
            <a:srgbClr val="38D2FF"/>
          </a:solidFill>
          <a:ln w="12700">
            <a:solidFill>
              <a:srgbClr val="38D2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42416" y="6025896"/>
            <a:ext cx="10113264" cy="-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7F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Все эти поля уже согласованы с frontend contract в interfaces.ts и используются как основа для коэффициентов и score.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13232" y="640994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NeoFin AI | приложение / ответы | 30.03.2026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10991088" y="635508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38D2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16</a:t>
            </a:r>
            <a:endParaRPr lang="en-US" sz="9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5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92608"/>
            <a:ext cx="11484864" cy="6291072"/>
          </a:xfrm>
          <a:prstGeom prst="rect">
            <a:avLst/>
          </a:prstGeom>
          <a:solidFill>
            <a:srgbClr val="05111C">
              <a:alpha val="0"/>
            </a:srgbClr>
          </a:solidFill>
          <a:ln w="12700">
            <a:solidFill>
              <a:srgbClr val="284763">
                <a:alpha val="2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84464" y="73152"/>
            <a:ext cx="3493008" cy="2340864"/>
          </a:xfrm>
          <a:prstGeom prst="ellipse">
            <a:avLst/>
          </a:prstGeom>
          <a:solidFill>
            <a:srgbClr val="173247">
              <a:alpha val="16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4882896"/>
            <a:ext cx="2542032" cy="1755648"/>
          </a:xfrm>
          <a:prstGeom prst="ellipse">
            <a:avLst/>
          </a:prstGeom>
          <a:solidFill>
            <a:srgbClr val="27435B">
              <a:alpha val="12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66928"/>
            <a:ext cx="1463040" cy="0"/>
          </a:xfrm>
          <a:prstGeom prst="line">
            <a:avLst/>
          </a:prstGeom>
          <a:noFill/>
          <a:ln w="12700">
            <a:solidFill>
              <a:srgbClr val="38D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28048" y="493776"/>
            <a:ext cx="1847088" cy="219456"/>
          </a:xfrm>
          <a:prstGeom prst="rect">
            <a:avLst/>
          </a:prstGeom>
          <a:solidFill>
            <a:srgbClr val="0D2031"/>
          </a:solidFill>
          <a:ln>
            <a:solidFill>
              <a:srgbClr val="284763">
                <a:alpha val="3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ПРИЛОЖЕНИЕ / ОТВЕТЫ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749808" y="438912"/>
            <a:ext cx="1490472" cy="219456"/>
          </a:xfrm>
          <a:prstGeom prst="rect">
            <a:avLst/>
          </a:prstGeom>
          <a:solidFill>
            <a:srgbClr val="10283E"/>
          </a:solidFill>
          <a:ln>
            <a:solidFill>
              <a:srgbClr val="284763">
                <a:alpha val="42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38D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Приложение 2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749808" y="841248"/>
            <a:ext cx="6812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64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13 коэффициентов по четырём аналитическим группам</a:t>
            </a:r>
            <a:endParaRPr lang="en-US" sz="2064" dirty="0"/>
          </a:p>
        </p:txBody>
      </p:sp>
      <p:sp>
        <p:nvSpPr>
          <p:cNvPr id="9" name="Text 7"/>
          <p:cNvSpPr/>
          <p:nvPr/>
        </p:nvSpPr>
        <p:spPr>
          <a:xfrm>
            <a:off x="749808" y="1545336"/>
            <a:ext cx="6812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Справочный слой для вопросов о глубине финансового анализа.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41248" y="1920240"/>
            <a:ext cx="4956048" cy="1325880"/>
          </a:xfrm>
          <a:prstGeom prst="roundRect">
            <a:avLst>
              <a:gd name="adj" fmla="val 4138"/>
            </a:avLst>
          </a:prstGeom>
          <a:solidFill>
            <a:srgbClr val="0D2031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9264" y="2029968"/>
            <a:ext cx="4700016" cy="45720"/>
          </a:xfrm>
          <a:prstGeom prst="roundRect">
            <a:avLst>
              <a:gd name="adj" fmla="val 50000"/>
            </a:avLst>
          </a:prstGeom>
          <a:solidFill>
            <a:srgbClr val="38D2FF"/>
          </a:solidFill>
          <a:ln w="12700">
            <a:solidFill>
              <a:srgbClr val="38D2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2139696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Ликвидность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1042416" y="2523744"/>
            <a:ext cx="4553712" cy="439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current_ratio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quick_ratio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absolute_liquidity_ratio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6108192" y="1920240"/>
            <a:ext cx="4956048" cy="1325880"/>
          </a:xfrm>
          <a:prstGeom prst="roundRect">
            <a:avLst>
              <a:gd name="adj" fmla="val 4138"/>
            </a:avLst>
          </a:prstGeom>
          <a:solidFill>
            <a:srgbClr val="0D2031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36208" y="2029968"/>
            <a:ext cx="4700016" cy="45720"/>
          </a:xfrm>
          <a:prstGeom prst="roundRect">
            <a:avLst>
              <a:gd name="adj" fmla="val 50000"/>
            </a:avLst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139696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Рентабельность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6309360" y="2523744"/>
            <a:ext cx="455371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roa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roe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ros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ebitda_margin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841248" y="3410712"/>
            <a:ext cx="4956048" cy="1325880"/>
          </a:xfrm>
          <a:prstGeom prst="roundRect">
            <a:avLst>
              <a:gd name="adj" fmla="val 4138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9264" y="3520440"/>
            <a:ext cx="4700016" cy="45720"/>
          </a:xfrm>
          <a:prstGeom prst="roundRect">
            <a:avLst>
              <a:gd name="adj" fmla="val 50000"/>
            </a:avLst>
          </a:prstGeom>
          <a:solidFill>
            <a:srgbClr val="FFC55C"/>
          </a:solidFill>
          <a:ln w="12700">
            <a:solidFill>
              <a:srgbClr val="FFC55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3630168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Финансовая устойчивость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1042416" y="4014216"/>
            <a:ext cx="4553712" cy="439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equity_ratio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financial_leverage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interest_coverage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6108192" y="3410712"/>
            <a:ext cx="4956048" cy="1325880"/>
          </a:xfrm>
          <a:prstGeom prst="roundRect">
            <a:avLst>
              <a:gd name="adj" fmla="val 4138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36208" y="3520440"/>
            <a:ext cx="4700016" cy="45720"/>
          </a:xfrm>
          <a:prstGeom prst="roundRect">
            <a:avLst>
              <a:gd name="adj" fmla="val 50000"/>
            </a:avLst>
          </a:prstGeom>
          <a:solidFill>
            <a:srgbClr val="38D2FF"/>
          </a:solidFill>
          <a:ln w="12700">
            <a:solidFill>
              <a:srgbClr val="38D2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3630168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Деловая активность</a:t>
            </a:r>
            <a:endParaRPr lang="en-US" sz="860" dirty="0"/>
          </a:p>
        </p:txBody>
      </p:sp>
      <p:sp>
        <p:nvSpPr>
          <p:cNvPr id="25" name="Text 23"/>
          <p:cNvSpPr/>
          <p:nvPr/>
        </p:nvSpPr>
        <p:spPr>
          <a:xfrm>
            <a:off x="6309360" y="4014216"/>
            <a:ext cx="4553712" cy="439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asset_turnover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inventory_turnover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receivables_turnover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713232" y="640994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NeoFin AI | приложение / ответы | 30.03.2026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10991088" y="635508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38D2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17</a:t>
            </a:r>
            <a:endParaRPr lang="en-US" sz="9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5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92608"/>
            <a:ext cx="11484864" cy="6291072"/>
          </a:xfrm>
          <a:prstGeom prst="rect">
            <a:avLst/>
          </a:prstGeom>
          <a:solidFill>
            <a:srgbClr val="05111C">
              <a:alpha val="0"/>
            </a:srgbClr>
          </a:solidFill>
          <a:ln w="12700">
            <a:solidFill>
              <a:srgbClr val="284763">
                <a:alpha val="2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84464" y="73152"/>
            <a:ext cx="3493008" cy="2340864"/>
          </a:xfrm>
          <a:prstGeom prst="ellipse">
            <a:avLst/>
          </a:prstGeom>
          <a:solidFill>
            <a:srgbClr val="173247">
              <a:alpha val="16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4882896"/>
            <a:ext cx="2542032" cy="1755648"/>
          </a:xfrm>
          <a:prstGeom prst="ellipse">
            <a:avLst/>
          </a:prstGeom>
          <a:solidFill>
            <a:srgbClr val="27435B">
              <a:alpha val="12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66928"/>
            <a:ext cx="1463040" cy="0"/>
          </a:xfrm>
          <a:prstGeom prst="line">
            <a:avLst/>
          </a:prstGeom>
          <a:noFill/>
          <a:ln w="12700">
            <a:solidFill>
              <a:srgbClr val="38D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28048" y="493776"/>
            <a:ext cx="1847088" cy="219456"/>
          </a:xfrm>
          <a:prstGeom prst="rect">
            <a:avLst/>
          </a:prstGeom>
          <a:solidFill>
            <a:srgbClr val="0D2031"/>
          </a:solidFill>
          <a:ln>
            <a:solidFill>
              <a:srgbClr val="284763">
                <a:alpha val="3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ПРИЛОЖЕНИЕ / ОТВЕТЫ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749808" y="438912"/>
            <a:ext cx="1490472" cy="219456"/>
          </a:xfrm>
          <a:prstGeom prst="rect">
            <a:avLst/>
          </a:prstGeom>
          <a:solidFill>
            <a:srgbClr val="10283E"/>
          </a:solidFill>
          <a:ln>
            <a:solidFill>
              <a:srgbClr val="284763">
                <a:alpha val="42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38D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Приложение 3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749808" y="841248"/>
            <a:ext cx="6812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95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Как устроен score и риск-профиль результата</a:t>
            </a:r>
            <a:endParaRPr lang="en-US" sz="2195" dirty="0"/>
          </a:p>
        </p:txBody>
      </p:sp>
      <p:sp>
        <p:nvSpPr>
          <p:cNvPr id="9" name="Text 7"/>
          <p:cNvSpPr/>
          <p:nvPr/>
        </p:nvSpPr>
        <p:spPr>
          <a:xfrm>
            <a:off x="749808" y="1545336"/>
            <a:ext cx="6812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NeoFin AI выдаёт не только коэффициенты, но и управляемый слой оценки качества бизнеса.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969264" y="2011680"/>
            <a:ext cx="3246120" cy="1298448"/>
          </a:xfrm>
          <a:prstGeom prst="roundRect">
            <a:avLst>
              <a:gd name="adj" fmla="val 4225"/>
            </a:avLst>
          </a:prstGeom>
          <a:solidFill>
            <a:srgbClr val="10283E"/>
          </a:solidFill>
          <a:ln w="12700">
            <a:solidFill>
              <a:srgbClr val="284763">
                <a:alpha val="4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" y="2176272"/>
            <a:ext cx="2953512" cy="0"/>
          </a:xfrm>
          <a:prstGeom prst="line">
            <a:avLst/>
          </a:prstGeom>
          <a:noFill/>
          <a:ln w="12700">
            <a:solidFill>
              <a:srgbClr val="2EE6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33856" y="2267712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0–100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33856" y="2926080"/>
            <a:ext cx="2916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итоговый score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4471416" y="2011680"/>
            <a:ext cx="2560320" cy="1298448"/>
          </a:xfrm>
          <a:prstGeom prst="roundRect">
            <a:avLst>
              <a:gd name="adj" fmla="val 4225"/>
            </a:avLst>
          </a:prstGeom>
          <a:solidFill>
            <a:srgbClr val="10283E"/>
          </a:solidFill>
          <a:ln w="12700">
            <a:solidFill>
              <a:srgbClr val="284763">
                <a:alpha val="4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17720" y="2176272"/>
            <a:ext cx="2267712" cy="0"/>
          </a:xfrm>
          <a:prstGeom prst="line">
            <a:avLst/>
          </a:prstGeom>
          <a:noFill/>
          <a:ln w="12700">
            <a:solidFill>
              <a:srgbClr val="FFC5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36008" y="2267712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36008" y="2926080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/ medium / high / critical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287768" y="2011680"/>
            <a:ext cx="2560320" cy="1298448"/>
          </a:xfrm>
          <a:prstGeom prst="roundRect">
            <a:avLst>
              <a:gd name="adj" fmla="val 4225"/>
            </a:avLst>
          </a:prstGeom>
          <a:solidFill>
            <a:srgbClr val="10283E"/>
          </a:solidFill>
          <a:ln w="12700">
            <a:solidFill>
              <a:srgbClr val="284763">
                <a:alpha val="4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34072" y="2176272"/>
            <a:ext cx="2267712" cy="0"/>
          </a:xfrm>
          <a:prstGeom prst="line">
            <a:avLst/>
          </a:prstGeom>
          <a:noFill/>
          <a:ln w="12700">
            <a:solidFill>
              <a:srgbClr val="38D2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52360" y="2267712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confidence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452360" y="2926080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отдельный показатель полноты и надёжности данных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841248" y="4096512"/>
            <a:ext cx="4956048" cy="1627632"/>
          </a:xfrm>
          <a:prstGeom prst="roundRect">
            <a:avLst>
              <a:gd name="adj" fmla="val 3371"/>
            </a:avLst>
          </a:prstGeom>
          <a:solidFill>
            <a:srgbClr val="0D2031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9264" y="4206240"/>
            <a:ext cx="4700016" cy="45720"/>
          </a:xfrm>
          <a:prstGeom prst="roundRect">
            <a:avLst>
              <a:gd name="adj" fmla="val 50000"/>
            </a:avLst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42416" y="4315968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Что входит в score block</a:t>
            </a:r>
            <a:endParaRPr lang="en-US" sz="860" dirty="0"/>
          </a:p>
        </p:txBody>
      </p:sp>
      <p:sp>
        <p:nvSpPr>
          <p:cNvPr id="25" name="Text 23"/>
          <p:cNvSpPr/>
          <p:nvPr/>
        </p:nvSpPr>
        <p:spPr>
          <a:xfrm>
            <a:off x="1042416" y="4700016"/>
            <a:ext cx="4553712" cy="199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score, risk_level, confidence_score, factors и normalized_scores.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89904" y="4096512"/>
            <a:ext cx="4956048" cy="1627632"/>
          </a:xfrm>
          <a:prstGeom prst="roundRect">
            <a:avLst>
              <a:gd name="adj" fmla="val 3371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4206240"/>
            <a:ext cx="4700016" cy="45720"/>
          </a:xfrm>
          <a:prstGeom prst="roundRect">
            <a:avLst>
              <a:gd name="adj" fmla="val 50000"/>
            </a:avLst>
          </a:prstGeom>
          <a:solidFill>
            <a:srgbClr val="38D2FF"/>
          </a:solidFill>
          <a:ln w="12700">
            <a:solidFill>
              <a:srgbClr val="38D2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91072" y="4315968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Почему это полезно</a:t>
            </a:r>
            <a:endParaRPr lang="en-US" sz="860" dirty="0"/>
          </a:p>
        </p:txBody>
      </p:sp>
      <p:sp>
        <p:nvSpPr>
          <p:cNvPr id="29" name="Text 27"/>
          <p:cNvSpPr/>
          <p:nvPr/>
        </p:nvSpPr>
        <p:spPr>
          <a:xfrm>
            <a:off x="6291072" y="4700016"/>
            <a:ext cx="4553712" cy="334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Финансовая команда получает не только числа, но и более быстрый язык для обсуждения качества компании.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13232" y="640994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NeoFin AI | приложение / ответы | 30.03.2026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10991088" y="635508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38D2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18</a:t>
            </a:r>
            <a:endParaRPr lang="en-US" sz="9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5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92608"/>
            <a:ext cx="11484864" cy="6291072"/>
          </a:xfrm>
          <a:prstGeom prst="rect">
            <a:avLst/>
          </a:prstGeom>
          <a:solidFill>
            <a:srgbClr val="05111C">
              <a:alpha val="0"/>
            </a:srgbClr>
          </a:solidFill>
          <a:ln w="12700">
            <a:solidFill>
              <a:srgbClr val="284763">
                <a:alpha val="2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84464" y="73152"/>
            <a:ext cx="3493008" cy="2340864"/>
          </a:xfrm>
          <a:prstGeom prst="ellipse">
            <a:avLst/>
          </a:prstGeom>
          <a:solidFill>
            <a:srgbClr val="173247">
              <a:alpha val="16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4882896"/>
            <a:ext cx="2542032" cy="1755648"/>
          </a:xfrm>
          <a:prstGeom prst="ellipse">
            <a:avLst/>
          </a:prstGeom>
          <a:solidFill>
            <a:srgbClr val="27435B">
              <a:alpha val="12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66928"/>
            <a:ext cx="1463040" cy="0"/>
          </a:xfrm>
          <a:prstGeom prst="line">
            <a:avLst/>
          </a:prstGeom>
          <a:noFill/>
          <a:ln w="12700">
            <a:solidFill>
              <a:srgbClr val="38D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28048" y="493776"/>
            <a:ext cx="1847088" cy="219456"/>
          </a:xfrm>
          <a:prstGeom prst="rect">
            <a:avLst/>
          </a:prstGeom>
          <a:solidFill>
            <a:srgbClr val="0D2031"/>
          </a:solidFill>
          <a:ln>
            <a:solidFill>
              <a:srgbClr val="284763">
                <a:alpha val="3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ПРИЛОЖЕНИЕ / ОТВЕТЫ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749808" y="438912"/>
            <a:ext cx="1490472" cy="219456"/>
          </a:xfrm>
          <a:prstGeom prst="rect">
            <a:avLst/>
          </a:prstGeom>
          <a:solidFill>
            <a:srgbClr val="10283E"/>
          </a:solidFill>
          <a:ln>
            <a:solidFill>
              <a:srgbClr val="284763">
                <a:alpha val="42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38D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Приложение 4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749808" y="841248"/>
            <a:ext cx="6812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4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Confidence filter — главный защитный механизм числового контура</a:t>
            </a:r>
            <a:endParaRPr lang="en-US" sz="1684" dirty="0"/>
          </a:p>
        </p:txBody>
      </p:sp>
      <p:sp>
        <p:nvSpPr>
          <p:cNvPr id="9" name="Text 7"/>
          <p:cNvSpPr/>
          <p:nvPr/>
        </p:nvSpPr>
        <p:spPr>
          <a:xfrm>
            <a:off x="749808" y="1545336"/>
            <a:ext cx="6812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Он не позволяет сомнительному значению незаметно исказить коэффициенты и итоговый score.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73252" y="2011680"/>
            <a:ext cx="2487168" cy="1298448"/>
          </a:xfrm>
          <a:prstGeom prst="roundRect">
            <a:avLst>
              <a:gd name="adj" fmla="val 4225"/>
            </a:avLst>
          </a:prstGeom>
          <a:solidFill>
            <a:srgbClr val="10283E"/>
          </a:solidFill>
          <a:ln w="12700">
            <a:solidFill>
              <a:srgbClr val="284763">
                <a:alpha val="4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19556" y="2176272"/>
            <a:ext cx="2194560" cy="0"/>
          </a:xfrm>
          <a:prstGeom prst="line">
            <a:avLst/>
          </a:prstGeom>
          <a:noFill/>
          <a:ln w="12700">
            <a:solidFill>
              <a:srgbClr val="2EE6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7844" y="2267712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0.9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37844" y="2926080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table_exact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3525012" y="2011680"/>
            <a:ext cx="2487168" cy="1298448"/>
          </a:xfrm>
          <a:prstGeom prst="roundRect">
            <a:avLst>
              <a:gd name="adj" fmla="val 4225"/>
            </a:avLst>
          </a:prstGeom>
          <a:solidFill>
            <a:srgbClr val="10283E"/>
          </a:solidFill>
          <a:ln w="12700">
            <a:solidFill>
              <a:srgbClr val="284763">
                <a:alpha val="4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71316" y="2176272"/>
            <a:ext cx="2194560" cy="0"/>
          </a:xfrm>
          <a:prstGeom prst="line">
            <a:avLst/>
          </a:prstGeom>
          <a:noFill/>
          <a:ln w="12700">
            <a:solidFill>
              <a:srgbClr val="38D2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89604" y="2267712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0.7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89604" y="2926080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table_partial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6176772" y="2011680"/>
            <a:ext cx="2487168" cy="1298448"/>
          </a:xfrm>
          <a:prstGeom prst="roundRect">
            <a:avLst>
              <a:gd name="adj" fmla="val 4225"/>
            </a:avLst>
          </a:prstGeom>
          <a:solidFill>
            <a:srgbClr val="10283E"/>
          </a:solidFill>
          <a:ln w="12700">
            <a:solidFill>
              <a:srgbClr val="284763">
                <a:alpha val="4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23076" y="2176272"/>
            <a:ext cx="2194560" cy="0"/>
          </a:xfrm>
          <a:prstGeom prst="line">
            <a:avLst/>
          </a:prstGeom>
          <a:noFill/>
          <a:ln w="12700">
            <a:solidFill>
              <a:srgbClr val="FFC5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41364" y="2267712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0.5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41364" y="2926080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text_regex / ocr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8828532" y="2011680"/>
            <a:ext cx="2487168" cy="1298448"/>
          </a:xfrm>
          <a:prstGeom prst="roundRect">
            <a:avLst>
              <a:gd name="adj" fmla="val 4225"/>
            </a:avLst>
          </a:prstGeom>
          <a:solidFill>
            <a:srgbClr val="10283E"/>
          </a:solidFill>
          <a:ln w="12700">
            <a:solidFill>
              <a:srgbClr val="284763">
                <a:alpha val="4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74836" y="2176272"/>
            <a:ext cx="2194560" cy="0"/>
          </a:xfrm>
          <a:prstGeom prst="line">
            <a:avLst/>
          </a:prstGeom>
          <a:noFill/>
          <a:ln w="12700">
            <a:solidFill>
              <a:srgbClr val="FF7A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93124" y="2267712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0.3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993124" y="2926080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derived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841248" y="4096512"/>
            <a:ext cx="4956048" cy="1627632"/>
          </a:xfrm>
          <a:prstGeom prst="roundRect">
            <a:avLst>
              <a:gd name="adj" fmla="val 3371"/>
            </a:avLst>
          </a:prstGeom>
          <a:solidFill>
            <a:srgbClr val="0D2031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9264" y="4206240"/>
            <a:ext cx="4700016" cy="45720"/>
          </a:xfrm>
          <a:prstGeom prst="roundRect">
            <a:avLst>
              <a:gd name="adj" fmla="val 50000"/>
            </a:avLst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" y="4315968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Правило</a:t>
            </a:r>
            <a:endParaRPr lang="en-US" sz="860" dirty="0"/>
          </a:p>
        </p:txBody>
      </p:sp>
      <p:sp>
        <p:nvSpPr>
          <p:cNvPr id="29" name="Text 27"/>
          <p:cNvSpPr/>
          <p:nvPr/>
        </p:nvSpPr>
        <p:spPr>
          <a:xfrm>
            <a:off x="1042416" y="4700016"/>
            <a:ext cx="4553712" cy="334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 расчёты идут показатели с confidence &gt;= 0.5; остальные видимы, но не влияют на аналитику.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89904" y="4096512"/>
            <a:ext cx="4956048" cy="1627632"/>
          </a:xfrm>
          <a:prstGeom prst="roundRect">
            <a:avLst>
              <a:gd name="adj" fmla="val 3371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0" y="4206240"/>
            <a:ext cx="4700016" cy="45720"/>
          </a:xfrm>
          <a:prstGeom prst="roundRect">
            <a:avLst>
              <a:gd name="adj" fmla="val 50000"/>
            </a:avLst>
          </a:prstGeom>
          <a:solidFill>
            <a:srgbClr val="38D2FF"/>
          </a:solidFill>
          <a:ln w="12700">
            <a:solidFill>
              <a:srgbClr val="38D2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91072" y="4315968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Эффект</a:t>
            </a:r>
            <a:endParaRPr lang="en-US" sz="860" dirty="0"/>
          </a:p>
        </p:txBody>
      </p:sp>
      <p:sp>
        <p:nvSpPr>
          <p:cNvPr id="33" name="Text 31"/>
          <p:cNvSpPr/>
          <p:nvPr/>
        </p:nvSpPr>
        <p:spPr>
          <a:xfrm>
            <a:off x="6291072" y="4700016"/>
            <a:ext cx="4553712" cy="334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Пользователь понимает, где системе можно доверять, а где документ стоит перепроверить вручную.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13232" y="640994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NeoFin AI | приложение / ответы | 30.03.2026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10991088" y="635508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38D2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19</a:t>
            </a:r>
            <a:endParaRPr lang="en-US" sz="9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5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92608"/>
            <a:ext cx="11484864" cy="6291072"/>
          </a:xfrm>
          <a:prstGeom prst="rect">
            <a:avLst/>
          </a:prstGeom>
          <a:solidFill>
            <a:srgbClr val="05111C">
              <a:alpha val="0"/>
            </a:srgbClr>
          </a:solidFill>
          <a:ln w="12700">
            <a:solidFill>
              <a:srgbClr val="284763">
                <a:alpha val="2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84464" y="73152"/>
            <a:ext cx="3493008" cy="2340864"/>
          </a:xfrm>
          <a:prstGeom prst="ellipse">
            <a:avLst/>
          </a:prstGeom>
          <a:solidFill>
            <a:srgbClr val="173247">
              <a:alpha val="16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4882896"/>
            <a:ext cx="2542032" cy="1755648"/>
          </a:xfrm>
          <a:prstGeom prst="ellipse">
            <a:avLst/>
          </a:prstGeom>
          <a:solidFill>
            <a:srgbClr val="27435B">
              <a:alpha val="12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66928"/>
            <a:ext cx="1463040" cy="0"/>
          </a:xfrm>
          <a:prstGeom prst="line">
            <a:avLst/>
          </a:prstGeom>
          <a:noFill/>
          <a:ln w="12700">
            <a:solidFill>
              <a:srgbClr val="38D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28048" y="493776"/>
            <a:ext cx="1847088" cy="219456"/>
          </a:xfrm>
          <a:prstGeom prst="rect">
            <a:avLst/>
          </a:prstGeom>
          <a:solidFill>
            <a:srgbClr val="0D2031"/>
          </a:solidFill>
          <a:ln>
            <a:solidFill>
              <a:srgbClr val="284763">
                <a:alpha val="3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ПРИЛОЖЕНИЕ / ОТВЕТЫ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749808" y="438912"/>
            <a:ext cx="1490472" cy="219456"/>
          </a:xfrm>
          <a:prstGeom prst="rect">
            <a:avLst/>
          </a:prstGeom>
          <a:solidFill>
            <a:srgbClr val="10283E"/>
          </a:solidFill>
          <a:ln>
            <a:solidFill>
              <a:srgbClr val="284763">
                <a:alpha val="42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38D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Приложение 5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749808" y="841248"/>
            <a:ext cx="6812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34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Как выглядит результат анализа внутри контрактов продукта</a:t>
            </a:r>
            <a:endParaRPr lang="en-US" sz="1834" dirty="0"/>
          </a:p>
        </p:txBody>
      </p:sp>
      <p:sp>
        <p:nvSpPr>
          <p:cNvPr id="9" name="Text 7"/>
          <p:cNvSpPr/>
          <p:nvPr/>
        </p:nvSpPr>
        <p:spPr>
          <a:xfrm>
            <a:off x="749808" y="1545336"/>
            <a:ext cx="6812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Справочный слайд для вопросов о wire shape и масштабируемости результата.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41248" y="1901952"/>
            <a:ext cx="3063240" cy="1133856"/>
          </a:xfrm>
          <a:prstGeom prst="roundRect">
            <a:avLst>
              <a:gd name="adj" fmla="val 4839"/>
            </a:avLst>
          </a:prstGeom>
          <a:solidFill>
            <a:srgbClr val="0D2031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9264" y="2011680"/>
            <a:ext cx="2807208" cy="45720"/>
          </a:xfrm>
          <a:prstGeom prst="roundRect">
            <a:avLst>
              <a:gd name="adj" fmla="val 50000"/>
            </a:avLst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2121408"/>
            <a:ext cx="2660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AnalysisResponse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1042416" y="2505456"/>
            <a:ext cx="2660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B8CAD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status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B8CAD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data -&gt; metrics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B8CAD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data -&gt; ratios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B8CAD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data -&gt; score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B8CAD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data -&gt; nlp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B8CAD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data -&gt; extraction_metadata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841248" y="3291840"/>
            <a:ext cx="3063240" cy="1133856"/>
          </a:xfrm>
          <a:prstGeom prst="roundRect">
            <a:avLst>
              <a:gd name="adj" fmla="val 4839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3401568"/>
            <a:ext cx="2807208" cy="45720"/>
          </a:xfrm>
          <a:prstGeom prst="roundRect">
            <a:avLst>
              <a:gd name="adj" fmla="val 50000"/>
            </a:avLst>
          </a:prstGeom>
          <a:solidFill>
            <a:srgbClr val="38D2FF"/>
          </a:solidFill>
          <a:ln w="12700">
            <a:solidFill>
              <a:srgbClr val="38D2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3511296"/>
            <a:ext cx="2660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MultiAnalysisResponse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1042416" y="3895344"/>
            <a:ext cx="2660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B8CAD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session_id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B8CAD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status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B8CAD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progress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B8CAD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periods[]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4187952" y="1901952"/>
            <a:ext cx="7168896" cy="4553712"/>
          </a:xfrm>
          <a:prstGeom prst="roundRect">
            <a:avLst>
              <a:gd name="adj" fmla="val 1205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15968" y="2011680"/>
            <a:ext cx="6912864" cy="45720"/>
          </a:xfrm>
          <a:prstGeom prst="roundRect">
            <a:avLst>
              <a:gd name="adj" fmla="val 50000"/>
            </a:avLst>
          </a:prstGeom>
          <a:solidFill>
            <a:srgbClr val="38D2FF"/>
          </a:solidFill>
          <a:ln w="12700">
            <a:solidFill>
              <a:srgbClr val="38D2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0" y="2121408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Ключевая форма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389120" y="2414016"/>
            <a:ext cx="6766560" cy="3858768"/>
          </a:xfrm>
          <a:prstGeom prst="roundRect">
            <a:avLst>
              <a:gd name="adj" fmla="val 948"/>
            </a:avLst>
          </a:prstGeom>
          <a:solidFill>
            <a:srgbClr val="07111D"/>
          </a:solidFill>
          <a:ln w="12700">
            <a:solidFill>
              <a:srgbClr val="284763">
                <a:alpha val="7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35424" y="2615184"/>
            <a:ext cx="6473952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F7FB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F7FB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"status": "completed",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F7FB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"data":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F7FB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"metrics": { ... },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F7FB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"ratios": { ... },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F7FB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"score": { ... },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F7FB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"nlp": { ... },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F7FB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"extraction_metadata": { ...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F7FB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F7FB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}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841248" y="5806440"/>
            <a:ext cx="10515600" cy="329184"/>
          </a:xfrm>
          <a:prstGeom prst="roundRect">
            <a:avLst>
              <a:gd name="adj" fmla="val 16667"/>
            </a:avLst>
          </a:prstGeom>
          <a:solidFill>
            <a:srgbClr val="132F48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9264" y="5916168"/>
            <a:ext cx="10259568" cy="45720"/>
          </a:xfrm>
          <a:prstGeom prst="roundRect">
            <a:avLst>
              <a:gd name="adj" fmla="val 50000"/>
            </a:avLst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2416" y="6025896"/>
            <a:ext cx="10113264" cy="-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7F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Один и тот же объект результата работает для UI, history и API-интеграций.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13232" y="640994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NeoFin AI | приложение / ответы | 30.03.2026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10991088" y="635508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38D2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20</a:t>
            </a:r>
            <a:endParaRPr lang="en-US" sz="9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5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92608"/>
            <a:ext cx="11484864" cy="6291072"/>
          </a:xfrm>
          <a:prstGeom prst="rect">
            <a:avLst/>
          </a:prstGeom>
          <a:solidFill>
            <a:srgbClr val="05111C">
              <a:alpha val="0"/>
            </a:srgbClr>
          </a:solidFill>
          <a:ln w="12700">
            <a:solidFill>
              <a:srgbClr val="284763">
                <a:alpha val="2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84464" y="73152"/>
            <a:ext cx="3493008" cy="2340864"/>
          </a:xfrm>
          <a:prstGeom prst="ellipse">
            <a:avLst/>
          </a:prstGeom>
          <a:solidFill>
            <a:srgbClr val="173247">
              <a:alpha val="16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4882896"/>
            <a:ext cx="2542032" cy="1755648"/>
          </a:xfrm>
          <a:prstGeom prst="ellipse">
            <a:avLst/>
          </a:prstGeom>
          <a:solidFill>
            <a:srgbClr val="27435B">
              <a:alpha val="12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66928"/>
            <a:ext cx="1463040" cy="0"/>
          </a:xfrm>
          <a:prstGeom prst="line">
            <a:avLst/>
          </a:prstGeom>
          <a:noFill/>
          <a:ln w="12700">
            <a:solidFill>
              <a:srgbClr val="38D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28048" y="493776"/>
            <a:ext cx="1847088" cy="219456"/>
          </a:xfrm>
          <a:prstGeom prst="rect">
            <a:avLst/>
          </a:prstGeom>
          <a:solidFill>
            <a:srgbClr val="0D2031"/>
          </a:solidFill>
          <a:ln>
            <a:solidFill>
              <a:srgbClr val="284763">
                <a:alpha val="3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ПРИЛОЖЕНИЕ / ОТВЕТЫ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749808" y="438912"/>
            <a:ext cx="1490472" cy="219456"/>
          </a:xfrm>
          <a:prstGeom prst="rect">
            <a:avLst/>
          </a:prstGeom>
          <a:solidFill>
            <a:srgbClr val="10283E"/>
          </a:solidFill>
          <a:ln>
            <a:solidFill>
              <a:srgbClr val="284763">
                <a:alpha val="42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38D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Приложение 6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749808" y="841248"/>
            <a:ext cx="6812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95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Два уровня аналитики: deterministic core и AI-layer</a:t>
            </a:r>
            <a:endParaRPr lang="en-US" sz="2195" dirty="0"/>
          </a:p>
        </p:txBody>
      </p:sp>
      <p:sp>
        <p:nvSpPr>
          <p:cNvPr id="9" name="Text 7"/>
          <p:cNvSpPr/>
          <p:nvPr/>
        </p:nvSpPr>
        <p:spPr>
          <a:xfrm>
            <a:off x="749808" y="1545336"/>
            <a:ext cx="6812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Разделение уровней делает продукт одновременно explainable и resilient.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749808" y="1938528"/>
            <a:ext cx="5010912" cy="3639312"/>
          </a:xfrm>
          <a:prstGeom prst="roundRect">
            <a:avLst>
              <a:gd name="adj" fmla="val 1508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" y="2048256"/>
            <a:ext cx="4754880" cy="45720"/>
          </a:xfrm>
          <a:prstGeom prst="roundRect">
            <a:avLst>
              <a:gd name="adj" fmla="val 50000"/>
            </a:avLst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157984"/>
            <a:ext cx="4608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Уровень 1 — deterministic core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987552" y="2651760"/>
            <a:ext cx="82296" cy="82296"/>
          </a:xfrm>
          <a:prstGeom prst="ellipse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33856" y="2578608"/>
            <a:ext cx="440740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Извлечение данных из PDF, таблиц и OCR.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987552" y="2938272"/>
            <a:ext cx="82296" cy="82296"/>
          </a:xfrm>
          <a:prstGeom prst="ellipse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3856" y="2865120"/>
            <a:ext cx="440740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Расчёт коэффициентов и score по формальным правилам.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987552" y="3224784"/>
            <a:ext cx="82296" cy="82296"/>
          </a:xfrm>
          <a:prstGeom prst="ellipse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33856" y="3151632"/>
            <a:ext cx="440740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Работа даже при недоступности внешнего LLM.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6236208" y="1938528"/>
            <a:ext cx="5120640" cy="3639312"/>
          </a:xfrm>
          <a:prstGeom prst="roundRect">
            <a:avLst>
              <a:gd name="adj" fmla="val 1508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64224" y="2048256"/>
            <a:ext cx="4864608" cy="45720"/>
          </a:xfrm>
          <a:prstGeom prst="roundRect">
            <a:avLst>
              <a:gd name="adj" fmla="val 50000"/>
            </a:avLst>
          </a:prstGeom>
          <a:solidFill>
            <a:srgbClr val="38D2FF"/>
          </a:solidFill>
          <a:ln w="12700">
            <a:solidFill>
              <a:srgbClr val="38D2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37376" y="2157984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Уровень 2 — AI interpretation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6473952" y="2578608"/>
            <a:ext cx="4681728" cy="841248"/>
          </a:xfrm>
          <a:prstGeom prst="roundRect">
            <a:avLst>
              <a:gd name="adj" fmla="val 6522"/>
            </a:avLst>
          </a:prstGeom>
          <a:solidFill>
            <a:srgbClr val="0D2031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01968" y="2688336"/>
            <a:ext cx="4425696" cy="45720"/>
          </a:xfrm>
          <a:prstGeom prst="roundRect">
            <a:avLst>
              <a:gd name="adj" fmla="val 50000"/>
            </a:avLst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2798064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Risks</a:t>
            </a:r>
            <a:endParaRPr lang="en-US" sz="860" dirty="0"/>
          </a:p>
        </p:txBody>
      </p:sp>
      <p:sp>
        <p:nvSpPr>
          <p:cNvPr id="25" name="Text 23"/>
          <p:cNvSpPr/>
          <p:nvPr/>
        </p:nvSpPr>
        <p:spPr>
          <a:xfrm>
            <a:off x="6675120" y="3182112"/>
            <a:ext cx="42793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NLP-риски и key factors поверх цифр.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6473952" y="3566160"/>
            <a:ext cx="4681728" cy="841248"/>
          </a:xfrm>
          <a:prstGeom prst="roundRect">
            <a:avLst>
              <a:gd name="adj" fmla="val 6522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01968" y="3675888"/>
            <a:ext cx="4425696" cy="45720"/>
          </a:xfrm>
          <a:prstGeom prst="roundRect">
            <a:avLst>
              <a:gd name="adj" fmla="val 50000"/>
            </a:avLst>
          </a:prstGeom>
          <a:solidFill>
            <a:srgbClr val="38D2FF"/>
          </a:solidFill>
          <a:ln w="12700">
            <a:solidFill>
              <a:srgbClr val="38D2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0" y="3785616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Recommendations</a:t>
            </a:r>
            <a:endParaRPr lang="en-US" sz="860" dirty="0"/>
          </a:p>
        </p:txBody>
      </p:sp>
      <p:sp>
        <p:nvSpPr>
          <p:cNvPr id="29" name="Text 27"/>
          <p:cNvSpPr/>
          <p:nvPr/>
        </p:nvSpPr>
        <p:spPr>
          <a:xfrm>
            <a:off x="6675120" y="4169664"/>
            <a:ext cx="42793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3–5 рекомендаций с привязкой к метрикам.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6473952" y="4553712"/>
            <a:ext cx="4681728" cy="841248"/>
          </a:xfrm>
          <a:prstGeom prst="roundRect">
            <a:avLst>
              <a:gd name="adj" fmla="val 6522"/>
            </a:avLst>
          </a:prstGeom>
          <a:solidFill>
            <a:srgbClr val="0D2031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01968" y="4663440"/>
            <a:ext cx="4425696" cy="45720"/>
          </a:xfrm>
          <a:prstGeom prst="roundRect">
            <a:avLst>
              <a:gd name="adj" fmla="val 50000"/>
            </a:avLst>
          </a:prstGeom>
          <a:solidFill>
            <a:srgbClr val="FFC55C"/>
          </a:solidFill>
          <a:ln w="12700">
            <a:solidFill>
              <a:srgbClr val="FFC55C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0" y="4773168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Graceful degrade</a:t>
            </a:r>
            <a:endParaRPr lang="en-US" sz="860" dirty="0"/>
          </a:p>
        </p:txBody>
      </p:sp>
      <p:sp>
        <p:nvSpPr>
          <p:cNvPr id="33" name="Text 31"/>
          <p:cNvSpPr/>
          <p:nvPr/>
        </p:nvSpPr>
        <p:spPr>
          <a:xfrm>
            <a:off x="6675120" y="5157216"/>
            <a:ext cx="42793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Сбой AI не разрушает базовый результат.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713232" y="640994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NeoFin AI | приложение / ответы | 30.03.2026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10991088" y="635508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38D2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21</a:t>
            </a:r>
            <a:endParaRPr lang="en-US" sz="9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5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92608"/>
            <a:ext cx="11484864" cy="6291072"/>
          </a:xfrm>
          <a:prstGeom prst="rect">
            <a:avLst/>
          </a:prstGeom>
          <a:solidFill>
            <a:srgbClr val="05111C">
              <a:alpha val="0"/>
            </a:srgbClr>
          </a:solidFill>
          <a:ln w="12700">
            <a:solidFill>
              <a:srgbClr val="284763">
                <a:alpha val="2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84464" y="73152"/>
            <a:ext cx="3493008" cy="2340864"/>
          </a:xfrm>
          <a:prstGeom prst="ellipse">
            <a:avLst/>
          </a:prstGeom>
          <a:solidFill>
            <a:srgbClr val="173247">
              <a:alpha val="16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4882896"/>
            <a:ext cx="2542032" cy="1755648"/>
          </a:xfrm>
          <a:prstGeom prst="ellipse">
            <a:avLst/>
          </a:prstGeom>
          <a:solidFill>
            <a:srgbClr val="27435B">
              <a:alpha val="12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66928"/>
            <a:ext cx="1463040" cy="0"/>
          </a:xfrm>
          <a:prstGeom prst="line">
            <a:avLst/>
          </a:prstGeom>
          <a:noFill/>
          <a:ln w="12700">
            <a:solidFill>
              <a:srgbClr val="38D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28048" y="493776"/>
            <a:ext cx="1847088" cy="219456"/>
          </a:xfrm>
          <a:prstGeom prst="rect">
            <a:avLst/>
          </a:prstGeom>
          <a:solidFill>
            <a:srgbClr val="0D2031"/>
          </a:solidFill>
          <a:ln>
            <a:solidFill>
              <a:srgbClr val="284763">
                <a:alpha val="3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ПРИЛОЖЕНИЕ / ОТВЕТЫ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749808" y="438912"/>
            <a:ext cx="1490472" cy="219456"/>
          </a:xfrm>
          <a:prstGeom prst="rect">
            <a:avLst/>
          </a:prstGeom>
          <a:solidFill>
            <a:srgbClr val="10283E"/>
          </a:solidFill>
          <a:ln>
            <a:solidFill>
              <a:srgbClr val="284763">
                <a:alpha val="42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38D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Приложение 7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749808" y="841248"/>
            <a:ext cx="6812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Runtime-контур: от локальной простоты к устойчивому worker-based исполнению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1545336"/>
            <a:ext cx="6812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Это инженерный слой, который влияет и на демонстрацию, и на будущую эксплуатацию.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749808" y="1938528"/>
            <a:ext cx="5010912" cy="3639312"/>
          </a:xfrm>
          <a:prstGeom prst="roundRect">
            <a:avLst>
              <a:gd name="adj" fmla="val 1508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" y="2048256"/>
            <a:ext cx="4754880" cy="45720"/>
          </a:xfrm>
          <a:prstGeom prst="roundRect">
            <a:avLst>
              <a:gd name="adj" fmla="val 50000"/>
            </a:avLst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157984"/>
            <a:ext cx="4608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background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987552" y="2651760"/>
            <a:ext cx="82296" cy="82296"/>
          </a:xfrm>
          <a:prstGeom prst="ellipse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33856" y="2578608"/>
            <a:ext cx="440740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Минимальная инфраструктура.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987552" y="2938272"/>
            <a:ext cx="82296" cy="82296"/>
          </a:xfrm>
          <a:prstGeom prst="ellipse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3856" y="2865120"/>
            <a:ext cx="440740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Удобно для локальной разработки.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987552" y="3224784"/>
            <a:ext cx="82296" cy="82296"/>
          </a:xfrm>
          <a:prstGeom prst="ellipse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33856" y="3151632"/>
            <a:ext cx="440740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 path для простых сценариев.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6236208" y="1938528"/>
            <a:ext cx="5120640" cy="3639312"/>
          </a:xfrm>
          <a:prstGeom prst="roundRect">
            <a:avLst>
              <a:gd name="adj" fmla="val 1508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64224" y="2048256"/>
            <a:ext cx="4864608" cy="45720"/>
          </a:xfrm>
          <a:prstGeom prst="roundRect">
            <a:avLst>
              <a:gd name="adj" fmla="val 50000"/>
            </a:avLst>
          </a:prstGeom>
          <a:solidFill>
            <a:srgbClr val="38D2FF"/>
          </a:solidFill>
          <a:ln w="12700">
            <a:solidFill>
              <a:srgbClr val="38D2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37376" y="2157984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celery + Redis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6473952" y="2578608"/>
            <a:ext cx="4681728" cy="841248"/>
          </a:xfrm>
          <a:prstGeom prst="roundRect">
            <a:avLst>
              <a:gd name="adj" fmla="val 6522"/>
            </a:avLst>
          </a:prstGeom>
          <a:solidFill>
            <a:srgbClr val="0D2031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01968" y="2688336"/>
            <a:ext cx="4425696" cy="45720"/>
          </a:xfrm>
          <a:prstGeom prst="roundRect">
            <a:avLst>
              <a:gd name="adj" fmla="val 50000"/>
            </a:avLst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2798064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Worker</a:t>
            </a:r>
            <a:endParaRPr lang="en-US" sz="860" dirty="0"/>
          </a:p>
        </p:txBody>
      </p:sp>
      <p:sp>
        <p:nvSpPr>
          <p:cNvPr id="25" name="Text 23"/>
          <p:cNvSpPr/>
          <p:nvPr/>
        </p:nvSpPr>
        <p:spPr>
          <a:xfrm>
            <a:off x="6675120" y="3182112"/>
            <a:ext cx="42793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Тяжёлая обработка уходит из API-слоя.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6473952" y="3566160"/>
            <a:ext cx="4681728" cy="841248"/>
          </a:xfrm>
          <a:prstGeom prst="roundRect">
            <a:avLst>
              <a:gd name="adj" fmla="val 6522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01968" y="3675888"/>
            <a:ext cx="4425696" cy="45720"/>
          </a:xfrm>
          <a:prstGeom prst="roundRect">
            <a:avLst>
              <a:gd name="adj" fmla="val 50000"/>
            </a:avLst>
          </a:prstGeom>
          <a:solidFill>
            <a:srgbClr val="38D2FF"/>
          </a:solidFill>
          <a:ln w="12700">
            <a:solidFill>
              <a:srgbClr val="38D2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0" y="3785616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Repeatable demo</a:t>
            </a:r>
            <a:endParaRPr lang="en-US" sz="860" dirty="0"/>
          </a:p>
        </p:txBody>
      </p:sp>
      <p:sp>
        <p:nvSpPr>
          <p:cNvPr id="29" name="Text 27"/>
          <p:cNvSpPr/>
          <p:nvPr/>
        </p:nvSpPr>
        <p:spPr>
          <a:xfrm>
            <a:off x="6675120" y="4169664"/>
            <a:ext cx="42793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Подходит для contest smoke и репетиций.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6473952" y="4553712"/>
            <a:ext cx="4681728" cy="841248"/>
          </a:xfrm>
          <a:prstGeom prst="roundRect">
            <a:avLst>
              <a:gd name="adj" fmla="val 6522"/>
            </a:avLst>
          </a:prstGeom>
          <a:solidFill>
            <a:srgbClr val="0D2031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01968" y="4663440"/>
            <a:ext cx="4425696" cy="45720"/>
          </a:xfrm>
          <a:prstGeom prst="roundRect">
            <a:avLst>
              <a:gd name="adj" fmla="val 50000"/>
            </a:avLst>
          </a:prstGeom>
          <a:solidFill>
            <a:srgbClr val="FFC55C"/>
          </a:solidFill>
          <a:ln w="12700">
            <a:solidFill>
              <a:srgbClr val="FFC55C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0" y="4773168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Professional path</a:t>
            </a:r>
            <a:endParaRPr lang="en-US" sz="860" dirty="0"/>
          </a:p>
        </p:txBody>
      </p:sp>
      <p:sp>
        <p:nvSpPr>
          <p:cNvPr id="33" name="Text 31"/>
          <p:cNvSpPr/>
          <p:nvPr/>
        </p:nvSpPr>
        <p:spPr>
          <a:xfrm>
            <a:off x="6675120" y="5157216"/>
            <a:ext cx="42793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Ближе к реальному B2B execution contour.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713232" y="640994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NeoFin AI | приложение / ответы | 30.03.2026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10991088" y="635508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38D2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22</a:t>
            </a:r>
            <a:endParaRPr lang="en-US" sz="9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5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92608"/>
            <a:ext cx="11484864" cy="6291072"/>
          </a:xfrm>
          <a:prstGeom prst="rect">
            <a:avLst/>
          </a:prstGeom>
          <a:solidFill>
            <a:srgbClr val="05111C">
              <a:alpha val="0"/>
            </a:srgbClr>
          </a:solidFill>
          <a:ln w="12700">
            <a:solidFill>
              <a:srgbClr val="284763">
                <a:alpha val="2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84464" y="73152"/>
            <a:ext cx="3493008" cy="2340864"/>
          </a:xfrm>
          <a:prstGeom prst="ellipse">
            <a:avLst/>
          </a:prstGeom>
          <a:solidFill>
            <a:srgbClr val="173247">
              <a:alpha val="16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4882896"/>
            <a:ext cx="2542032" cy="1755648"/>
          </a:xfrm>
          <a:prstGeom prst="ellipse">
            <a:avLst/>
          </a:prstGeom>
          <a:solidFill>
            <a:srgbClr val="27435B">
              <a:alpha val="12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66928"/>
            <a:ext cx="1463040" cy="0"/>
          </a:xfrm>
          <a:prstGeom prst="line">
            <a:avLst/>
          </a:prstGeom>
          <a:noFill/>
          <a:ln w="12700">
            <a:solidFill>
              <a:srgbClr val="38D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28048" y="493776"/>
            <a:ext cx="1847088" cy="219456"/>
          </a:xfrm>
          <a:prstGeom prst="rect">
            <a:avLst/>
          </a:prstGeom>
          <a:solidFill>
            <a:srgbClr val="0D2031"/>
          </a:solidFill>
          <a:ln>
            <a:solidFill>
              <a:srgbClr val="284763">
                <a:alpha val="3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ПРИЛОЖЕНИЕ / ОТВЕТЫ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749808" y="438912"/>
            <a:ext cx="1490472" cy="219456"/>
          </a:xfrm>
          <a:prstGeom prst="rect">
            <a:avLst/>
          </a:prstGeom>
          <a:solidFill>
            <a:srgbClr val="10283E"/>
          </a:solidFill>
          <a:ln>
            <a:solidFill>
              <a:srgbClr val="284763">
                <a:alpha val="42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38D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Приложение 8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749808" y="841248"/>
            <a:ext cx="6812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31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Real-time UX: WebSocket как основной путь, polling как страховка</a:t>
            </a:r>
            <a:endParaRPr lang="en-US" sz="1731" dirty="0"/>
          </a:p>
        </p:txBody>
      </p:sp>
      <p:sp>
        <p:nvSpPr>
          <p:cNvPr id="9" name="Text 7"/>
          <p:cNvSpPr/>
          <p:nvPr/>
        </p:nvSpPr>
        <p:spPr>
          <a:xfrm>
            <a:off x="749808" y="1545336"/>
            <a:ext cx="6812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Пользовательский опыт тоже построен вокруг устойчивости, а не одного fragile happy path.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749808" y="1938528"/>
            <a:ext cx="5010912" cy="3639312"/>
          </a:xfrm>
          <a:prstGeom prst="roundRect">
            <a:avLst>
              <a:gd name="adj" fmla="val 1508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" y="2048256"/>
            <a:ext cx="4754880" cy="45720"/>
          </a:xfrm>
          <a:prstGeom prst="roundRect">
            <a:avLst>
              <a:gd name="adj" fmla="val 50000"/>
            </a:avLst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157984"/>
            <a:ext cx="4608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Основной путь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987552" y="2651760"/>
            <a:ext cx="82296" cy="82296"/>
          </a:xfrm>
          <a:prstGeom prst="ellipse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33856" y="2578608"/>
            <a:ext cx="440740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-&gt; task_id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987552" y="2938272"/>
            <a:ext cx="82296" cy="82296"/>
          </a:xfrm>
          <a:prstGeom prst="ellipse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3856" y="2865120"/>
            <a:ext cx="440740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ws/{task_id} -&gt; extracting / scoring / analyzing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987552" y="3224784"/>
            <a:ext cx="82296" cy="82296"/>
          </a:xfrm>
          <a:prstGeom prst="ellipse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33856" y="3151632"/>
            <a:ext cx="440740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completed -&gt; полный результат в реальном времени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6236208" y="1938528"/>
            <a:ext cx="5120640" cy="3639312"/>
          </a:xfrm>
          <a:prstGeom prst="roundRect">
            <a:avLst>
              <a:gd name="adj" fmla="val 1508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64224" y="2048256"/>
            <a:ext cx="4864608" cy="45720"/>
          </a:xfrm>
          <a:prstGeom prst="roundRect">
            <a:avLst>
              <a:gd name="adj" fmla="val 50000"/>
            </a:avLst>
          </a:prstGeom>
          <a:solidFill>
            <a:srgbClr val="38D2FF"/>
          </a:solidFill>
          <a:ln w="12700">
            <a:solidFill>
              <a:srgbClr val="38D2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37376" y="2157984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Fallback path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6473952" y="2578608"/>
            <a:ext cx="4681728" cy="841248"/>
          </a:xfrm>
          <a:prstGeom prst="roundRect">
            <a:avLst>
              <a:gd name="adj" fmla="val 6522"/>
            </a:avLst>
          </a:prstGeom>
          <a:solidFill>
            <a:srgbClr val="0D2031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01968" y="2688336"/>
            <a:ext cx="4425696" cy="45720"/>
          </a:xfrm>
          <a:prstGeom prst="roundRect">
            <a:avLst>
              <a:gd name="adj" fmla="val 50000"/>
            </a:avLst>
          </a:prstGeom>
          <a:solidFill>
            <a:srgbClr val="38D2FF"/>
          </a:solidFill>
          <a:ln w="12700">
            <a:solidFill>
              <a:srgbClr val="38D2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2798064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GET /result/{task_id}</a:t>
            </a:r>
            <a:endParaRPr lang="en-US" sz="860" dirty="0"/>
          </a:p>
        </p:txBody>
      </p:sp>
      <p:sp>
        <p:nvSpPr>
          <p:cNvPr id="25" name="Text 23"/>
          <p:cNvSpPr/>
          <p:nvPr/>
        </p:nvSpPr>
        <p:spPr>
          <a:xfrm>
            <a:off x="6675120" y="3182112"/>
            <a:ext cx="42793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Статус и результат доступны без WebSocket.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6473952" y="3566160"/>
            <a:ext cx="4681728" cy="841248"/>
          </a:xfrm>
          <a:prstGeom prst="roundRect">
            <a:avLst>
              <a:gd name="adj" fmla="val 6522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01968" y="3675888"/>
            <a:ext cx="4425696" cy="45720"/>
          </a:xfrm>
          <a:prstGeom prst="roundRect">
            <a:avLst>
              <a:gd name="adj" fmla="val 50000"/>
            </a:avLst>
          </a:prstGeom>
          <a:solidFill>
            <a:srgbClr val="FFC55C"/>
          </a:solidFill>
          <a:ln w="12700">
            <a:solidFill>
              <a:srgbClr val="FFC55C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0" y="3785616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cancelling / cancelled</a:t>
            </a:r>
            <a:endParaRPr lang="en-US" sz="860" dirty="0"/>
          </a:p>
        </p:txBody>
      </p:sp>
      <p:sp>
        <p:nvSpPr>
          <p:cNvPr id="29" name="Text 27"/>
          <p:cNvSpPr/>
          <p:nvPr/>
        </p:nvSpPr>
        <p:spPr>
          <a:xfrm>
            <a:off x="6675120" y="4169664"/>
            <a:ext cx="42793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Контракт учитывает жизненный цикл задачи.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6473952" y="4553712"/>
            <a:ext cx="4681728" cy="841248"/>
          </a:xfrm>
          <a:prstGeom prst="roundRect">
            <a:avLst>
              <a:gd name="adj" fmla="val 6522"/>
            </a:avLst>
          </a:prstGeom>
          <a:solidFill>
            <a:srgbClr val="0D2031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01968" y="4663440"/>
            <a:ext cx="4425696" cy="45720"/>
          </a:xfrm>
          <a:prstGeom prst="roundRect">
            <a:avLst>
              <a:gd name="adj" fmla="val 50000"/>
            </a:avLst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0" y="4773168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Устойчивость UX</a:t>
            </a:r>
            <a:endParaRPr lang="en-US" sz="860" dirty="0"/>
          </a:p>
        </p:txBody>
      </p:sp>
      <p:sp>
        <p:nvSpPr>
          <p:cNvPr id="33" name="Text 31"/>
          <p:cNvSpPr/>
          <p:nvPr/>
        </p:nvSpPr>
        <p:spPr>
          <a:xfrm>
            <a:off x="6675120" y="5157216"/>
            <a:ext cx="42793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Интерфейс не разваливается при сетевой нестабильности.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713232" y="640994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NeoFin AI | приложение / ответы | 30.03.2026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10991088" y="635508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38D2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23</a:t>
            </a:r>
            <a:endParaRPr lang="en-US" sz="9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5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92608"/>
            <a:ext cx="11484864" cy="6291072"/>
          </a:xfrm>
          <a:prstGeom prst="rect">
            <a:avLst/>
          </a:prstGeom>
          <a:solidFill>
            <a:srgbClr val="05111C">
              <a:alpha val="0"/>
            </a:srgbClr>
          </a:solidFill>
          <a:ln w="12700">
            <a:solidFill>
              <a:srgbClr val="284763">
                <a:alpha val="2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84464" y="73152"/>
            <a:ext cx="3493008" cy="2340864"/>
          </a:xfrm>
          <a:prstGeom prst="ellipse">
            <a:avLst/>
          </a:prstGeom>
          <a:solidFill>
            <a:srgbClr val="173247">
              <a:alpha val="16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4882896"/>
            <a:ext cx="2542032" cy="1755648"/>
          </a:xfrm>
          <a:prstGeom prst="ellipse">
            <a:avLst/>
          </a:prstGeom>
          <a:solidFill>
            <a:srgbClr val="27435B">
              <a:alpha val="12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66928"/>
            <a:ext cx="1463040" cy="0"/>
          </a:xfrm>
          <a:prstGeom prst="line">
            <a:avLst/>
          </a:prstGeom>
          <a:noFill/>
          <a:ln w="12700">
            <a:solidFill>
              <a:srgbClr val="38D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28048" y="493776"/>
            <a:ext cx="1847088" cy="219456"/>
          </a:xfrm>
          <a:prstGeom prst="rect">
            <a:avLst/>
          </a:prstGeom>
          <a:solidFill>
            <a:srgbClr val="0D2031"/>
          </a:solidFill>
          <a:ln>
            <a:solidFill>
              <a:srgbClr val="284763">
                <a:alpha val="3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ПРИЛОЖЕНИЕ / ОТВЕТЫ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749808" y="438912"/>
            <a:ext cx="1490472" cy="219456"/>
          </a:xfrm>
          <a:prstGeom prst="rect">
            <a:avLst/>
          </a:prstGeom>
          <a:solidFill>
            <a:srgbClr val="10283E"/>
          </a:solidFill>
          <a:ln>
            <a:solidFill>
              <a:srgbClr val="284763">
                <a:alpha val="42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38D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Приложение 9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749808" y="841248"/>
            <a:ext cx="6812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History и status lifecycle делают результат воспроизводимым во времени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1545336"/>
            <a:ext cx="6812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Для профессионального продукта важно не только получить отчёт, но и уметь к нему вернуться и сравнить его с другими запусками.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749808" y="1938528"/>
            <a:ext cx="5010912" cy="3639312"/>
          </a:xfrm>
          <a:prstGeom prst="roundRect">
            <a:avLst>
              <a:gd name="adj" fmla="val 1508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" y="2048256"/>
            <a:ext cx="4754880" cy="45720"/>
          </a:xfrm>
          <a:prstGeom prst="roundRect">
            <a:avLst>
              <a:gd name="adj" fmla="val 50000"/>
            </a:avLst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157984"/>
            <a:ext cx="4608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Что хранится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987552" y="2651760"/>
            <a:ext cx="82296" cy="82296"/>
          </a:xfrm>
          <a:prstGeom prst="ellipse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33856" y="2578608"/>
            <a:ext cx="440740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task_id, created_at, score, risk_level, filename.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987552" y="2938272"/>
            <a:ext cx="82296" cy="82296"/>
          </a:xfrm>
          <a:prstGeom prst="ellipse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3856" y="2865120"/>
            <a:ext cx="440740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Полный result object для открытия завершённого анализа.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987552" y="3224784"/>
            <a:ext cx="82296" cy="82296"/>
          </a:xfrm>
          <a:prstGeom prst="ellipse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33856" y="3151632"/>
            <a:ext cx="440740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Состояния processing, completed, failed, cancelled и другие статусы контуров.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6236208" y="1938528"/>
            <a:ext cx="5120640" cy="3639312"/>
          </a:xfrm>
          <a:prstGeom prst="roundRect">
            <a:avLst>
              <a:gd name="adj" fmla="val 1508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64224" y="2048256"/>
            <a:ext cx="4864608" cy="45720"/>
          </a:xfrm>
          <a:prstGeom prst="roundRect">
            <a:avLst>
              <a:gd name="adj" fmla="val 50000"/>
            </a:avLst>
          </a:prstGeom>
          <a:solidFill>
            <a:srgbClr val="38D2FF"/>
          </a:solidFill>
          <a:ln w="12700">
            <a:solidFill>
              <a:srgbClr val="38D2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37376" y="2157984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Практический эффект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6473952" y="2578608"/>
            <a:ext cx="4681728" cy="841248"/>
          </a:xfrm>
          <a:prstGeom prst="roundRect">
            <a:avLst>
              <a:gd name="adj" fmla="val 6522"/>
            </a:avLst>
          </a:prstGeom>
          <a:solidFill>
            <a:srgbClr val="0D2031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01968" y="2688336"/>
            <a:ext cx="4425696" cy="45720"/>
          </a:xfrm>
          <a:prstGeom prst="roundRect">
            <a:avLst>
              <a:gd name="adj" fmla="val 50000"/>
            </a:avLst>
          </a:prstGeom>
          <a:solidFill>
            <a:srgbClr val="38D2FF"/>
          </a:solidFill>
          <a:ln w="12700">
            <a:solidFill>
              <a:srgbClr val="38D2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2798064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Повторное открытие</a:t>
            </a:r>
            <a:endParaRPr lang="en-US" sz="860" dirty="0"/>
          </a:p>
        </p:txBody>
      </p:sp>
      <p:sp>
        <p:nvSpPr>
          <p:cNvPr id="25" name="Text 23"/>
          <p:cNvSpPr/>
          <p:nvPr/>
        </p:nvSpPr>
        <p:spPr>
          <a:xfrm>
            <a:off x="6675120" y="3182112"/>
            <a:ext cx="42793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Кейс можно показать заново без нового запуска.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6473952" y="3566160"/>
            <a:ext cx="4681728" cy="841248"/>
          </a:xfrm>
          <a:prstGeom prst="roundRect">
            <a:avLst>
              <a:gd name="adj" fmla="val 6522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01968" y="3675888"/>
            <a:ext cx="4425696" cy="45720"/>
          </a:xfrm>
          <a:prstGeom prst="roundRect">
            <a:avLst>
              <a:gd name="adj" fmla="val 50000"/>
            </a:avLst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0" y="3785616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Сравнение</a:t>
            </a:r>
            <a:endParaRPr lang="en-US" sz="860" dirty="0"/>
          </a:p>
        </p:txBody>
      </p:sp>
      <p:sp>
        <p:nvSpPr>
          <p:cNvPr id="29" name="Text 27"/>
          <p:cNvSpPr/>
          <p:nvPr/>
        </p:nvSpPr>
        <p:spPr>
          <a:xfrm>
            <a:off x="6675120" y="4169664"/>
            <a:ext cx="42793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История усиливает анализ по времени и по документам.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6473952" y="4553712"/>
            <a:ext cx="4681728" cy="841248"/>
          </a:xfrm>
          <a:prstGeom prst="roundRect">
            <a:avLst>
              <a:gd name="adj" fmla="val 6522"/>
            </a:avLst>
          </a:prstGeom>
          <a:solidFill>
            <a:srgbClr val="0D2031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01968" y="4663440"/>
            <a:ext cx="4425696" cy="45720"/>
          </a:xfrm>
          <a:prstGeom prst="roundRect">
            <a:avLst>
              <a:gd name="adj" fmla="val 50000"/>
            </a:avLst>
          </a:prstGeom>
          <a:solidFill>
            <a:srgbClr val="FFC55C"/>
          </a:solidFill>
          <a:ln w="12700">
            <a:solidFill>
              <a:srgbClr val="FFC55C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0" y="4773168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Auditability</a:t>
            </a:r>
            <a:endParaRPr lang="en-US" sz="860" dirty="0"/>
          </a:p>
        </p:txBody>
      </p:sp>
      <p:sp>
        <p:nvSpPr>
          <p:cNvPr id="33" name="Text 31"/>
          <p:cNvSpPr/>
          <p:nvPr/>
        </p:nvSpPr>
        <p:spPr>
          <a:xfrm>
            <a:off x="6675120" y="5157216"/>
            <a:ext cx="42793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 работе остаётся след решения и результата.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713232" y="640994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NeoFin AI | приложение / ответы | 30.03.2026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10991088" y="635508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38D2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24</a:t>
            </a:r>
            <a:endParaRPr lang="en-US" sz="9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5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92608"/>
            <a:ext cx="11484864" cy="6291072"/>
          </a:xfrm>
          <a:prstGeom prst="rect">
            <a:avLst/>
          </a:prstGeom>
          <a:solidFill>
            <a:srgbClr val="05111C">
              <a:alpha val="0"/>
            </a:srgbClr>
          </a:solidFill>
          <a:ln w="12700">
            <a:solidFill>
              <a:srgbClr val="284763">
                <a:alpha val="2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84464" y="73152"/>
            <a:ext cx="3493008" cy="2340864"/>
          </a:xfrm>
          <a:prstGeom prst="ellipse">
            <a:avLst/>
          </a:prstGeom>
          <a:solidFill>
            <a:srgbClr val="173247">
              <a:alpha val="16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4882896"/>
            <a:ext cx="2542032" cy="1755648"/>
          </a:xfrm>
          <a:prstGeom prst="ellipse">
            <a:avLst/>
          </a:prstGeom>
          <a:solidFill>
            <a:srgbClr val="27435B">
              <a:alpha val="12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66928"/>
            <a:ext cx="1463040" cy="0"/>
          </a:xfrm>
          <a:prstGeom prst="line">
            <a:avLst/>
          </a:prstGeom>
          <a:noFill/>
          <a:ln w="12700">
            <a:solidFill>
              <a:srgbClr val="38D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28048" y="493776"/>
            <a:ext cx="1847088" cy="219456"/>
          </a:xfrm>
          <a:prstGeom prst="rect">
            <a:avLst/>
          </a:prstGeom>
          <a:solidFill>
            <a:srgbClr val="0D2031"/>
          </a:solidFill>
          <a:ln>
            <a:solidFill>
              <a:srgbClr val="284763">
                <a:alpha val="3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ПРИЛОЖЕНИЕ / ОТВЕТЫ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749808" y="438912"/>
            <a:ext cx="1572768" cy="219456"/>
          </a:xfrm>
          <a:prstGeom prst="rect">
            <a:avLst/>
          </a:prstGeom>
          <a:solidFill>
            <a:srgbClr val="10283E"/>
          </a:solidFill>
          <a:ln>
            <a:solidFill>
              <a:srgbClr val="284763">
                <a:alpha val="42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38D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Приложение 10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749808" y="841248"/>
            <a:ext cx="6812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2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Два формата поставки усиливают B2B-состоятельность продукта</a:t>
            </a:r>
            <a:endParaRPr lang="en-US" sz="1722" dirty="0"/>
          </a:p>
        </p:txBody>
      </p:sp>
      <p:sp>
        <p:nvSpPr>
          <p:cNvPr id="9" name="Text 7"/>
          <p:cNvSpPr/>
          <p:nvPr/>
        </p:nvSpPr>
        <p:spPr>
          <a:xfrm>
            <a:off x="749808" y="1545336"/>
            <a:ext cx="6812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Одинаково важно уметь быстро запустить пилот и дать клиенту закрытый контур, если это требуется.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749808" y="1938528"/>
            <a:ext cx="5010912" cy="3639312"/>
          </a:xfrm>
          <a:prstGeom prst="roundRect">
            <a:avLst>
              <a:gd name="adj" fmla="val 1508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" y="2048256"/>
            <a:ext cx="4754880" cy="45720"/>
          </a:xfrm>
          <a:prstGeom prst="roundRect">
            <a:avLst>
              <a:gd name="adj" fmla="val 50000"/>
            </a:avLst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157984"/>
            <a:ext cx="4608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Облачный сценарий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987552" y="2651760"/>
            <a:ext cx="82296" cy="82296"/>
          </a:xfrm>
          <a:prstGeom prst="ellipse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33856" y="2578608"/>
            <a:ext cx="440740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Быстрый запуск и короткий путь до proof of value.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987552" y="2938272"/>
            <a:ext cx="82296" cy="82296"/>
          </a:xfrm>
          <a:prstGeom prst="ellipse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3856" y="2865120"/>
            <a:ext cx="440740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Удобен для пилотов и небольших команд.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987552" y="3224784"/>
            <a:ext cx="82296" cy="82296"/>
          </a:xfrm>
          <a:prstGeom prst="ellipse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33856" y="3151632"/>
            <a:ext cx="440740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Хорош как стартовый коммерческий вход.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6236208" y="1938528"/>
            <a:ext cx="5120640" cy="3639312"/>
          </a:xfrm>
          <a:prstGeom prst="roundRect">
            <a:avLst>
              <a:gd name="adj" fmla="val 1508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64224" y="2048256"/>
            <a:ext cx="4864608" cy="45720"/>
          </a:xfrm>
          <a:prstGeom prst="roundRect">
            <a:avLst>
              <a:gd name="adj" fmla="val 50000"/>
            </a:avLst>
          </a:prstGeom>
          <a:solidFill>
            <a:srgbClr val="38D2FF"/>
          </a:solidFill>
          <a:ln w="12700">
            <a:solidFill>
              <a:srgbClr val="38D2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37376" y="2157984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Частный сценарий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6473952" y="2578608"/>
            <a:ext cx="4681728" cy="841248"/>
          </a:xfrm>
          <a:prstGeom prst="roundRect">
            <a:avLst>
              <a:gd name="adj" fmla="val 6522"/>
            </a:avLst>
          </a:prstGeom>
          <a:solidFill>
            <a:srgbClr val="0D2031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01968" y="2688336"/>
            <a:ext cx="4425696" cy="45720"/>
          </a:xfrm>
          <a:prstGeom prst="roundRect">
            <a:avLst>
              <a:gd name="adj" fmla="val 50000"/>
            </a:avLst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2798064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Локальное размещение</a:t>
            </a:r>
            <a:endParaRPr lang="en-US" sz="860" dirty="0"/>
          </a:p>
        </p:txBody>
      </p:sp>
      <p:sp>
        <p:nvSpPr>
          <p:cNvPr id="25" name="Text 23"/>
          <p:cNvSpPr/>
          <p:nvPr/>
        </p:nvSpPr>
        <p:spPr>
          <a:xfrm>
            <a:off x="6675120" y="3182112"/>
            <a:ext cx="42793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Подходит для чувствительных документов и закрытых контуров.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6473952" y="3566160"/>
            <a:ext cx="4681728" cy="841248"/>
          </a:xfrm>
          <a:prstGeom prst="roundRect">
            <a:avLst>
              <a:gd name="adj" fmla="val 6522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01968" y="3675888"/>
            <a:ext cx="4425696" cy="45720"/>
          </a:xfrm>
          <a:prstGeom prst="roundRect">
            <a:avLst>
              <a:gd name="adj" fmla="val 50000"/>
            </a:avLst>
          </a:prstGeom>
          <a:solidFill>
            <a:srgbClr val="38D2FF"/>
          </a:solidFill>
          <a:ln w="12700">
            <a:solidFill>
              <a:srgbClr val="38D2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0" y="3785616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Выше доверие</a:t>
            </a:r>
            <a:endParaRPr lang="en-US" sz="860" dirty="0"/>
          </a:p>
        </p:txBody>
      </p:sp>
      <p:sp>
        <p:nvSpPr>
          <p:cNvPr id="29" name="Text 27"/>
          <p:cNvSpPr/>
          <p:nvPr/>
        </p:nvSpPr>
        <p:spPr>
          <a:xfrm>
            <a:off x="6675120" y="4169664"/>
            <a:ext cx="42793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Сильнее выглядит для банков и risk-sensitive клиентов.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6473952" y="4553712"/>
            <a:ext cx="4681728" cy="841248"/>
          </a:xfrm>
          <a:prstGeom prst="roundRect">
            <a:avLst>
              <a:gd name="adj" fmla="val 6522"/>
            </a:avLst>
          </a:prstGeom>
          <a:solidFill>
            <a:srgbClr val="0D2031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01968" y="4663440"/>
            <a:ext cx="4425696" cy="45720"/>
          </a:xfrm>
          <a:prstGeom prst="roundRect">
            <a:avLst>
              <a:gd name="adj" fmla="val 50000"/>
            </a:avLst>
          </a:prstGeom>
          <a:solidFill>
            <a:srgbClr val="FFC55C"/>
          </a:solidFill>
          <a:ln w="12700">
            <a:solidFill>
              <a:srgbClr val="FFC55C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0" y="4773168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Выше чек</a:t>
            </a:r>
            <a:endParaRPr lang="en-US" sz="860" dirty="0"/>
          </a:p>
        </p:txBody>
      </p:sp>
      <p:sp>
        <p:nvSpPr>
          <p:cNvPr id="33" name="Text 31"/>
          <p:cNvSpPr/>
          <p:nvPr/>
        </p:nvSpPr>
        <p:spPr>
          <a:xfrm>
            <a:off x="6675120" y="5157216"/>
            <a:ext cx="42793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Поддерживает отдельную корпоративную ценность продукта.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713232" y="640994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NeoFin AI | приложение / ответы | 30.03.2026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10991088" y="635508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38D2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25</a:t>
            </a:r>
            <a:endParaRPr lang="en-US" sz="9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5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92608"/>
            <a:ext cx="11484864" cy="6291072"/>
          </a:xfrm>
          <a:prstGeom prst="rect">
            <a:avLst/>
          </a:prstGeom>
          <a:solidFill>
            <a:srgbClr val="05111C">
              <a:alpha val="0"/>
            </a:srgbClr>
          </a:solidFill>
          <a:ln w="12700">
            <a:solidFill>
              <a:srgbClr val="284763">
                <a:alpha val="2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84464" y="73152"/>
            <a:ext cx="3493008" cy="2340864"/>
          </a:xfrm>
          <a:prstGeom prst="ellipse">
            <a:avLst/>
          </a:prstGeom>
          <a:solidFill>
            <a:srgbClr val="173247">
              <a:alpha val="16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4882896"/>
            <a:ext cx="2542032" cy="1755648"/>
          </a:xfrm>
          <a:prstGeom prst="ellipse">
            <a:avLst/>
          </a:prstGeom>
          <a:solidFill>
            <a:srgbClr val="27435B">
              <a:alpha val="12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66928"/>
            <a:ext cx="1463040" cy="0"/>
          </a:xfrm>
          <a:prstGeom prst="line">
            <a:avLst/>
          </a:prstGeom>
          <a:noFill/>
          <a:ln w="12700">
            <a:solidFill>
              <a:srgbClr val="38D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28048" y="493776"/>
            <a:ext cx="1847088" cy="219456"/>
          </a:xfrm>
          <a:prstGeom prst="rect">
            <a:avLst/>
          </a:prstGeom>
          <a:solidFill>
            <a:srgbClr val="0D2031"/>
          </a:solidFill>
          <a:ln>
            <a:solidFill>
              <a:srgbClr val="284763">
                <a:alpha val="3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ПРИЛОЖЕНИЕ / ОТВЕТЫ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749808" y="438912"/>
            <a:ext cx="1572768" cy="219456"/>
          </a:xfrm>
          <a:prstGeom prst="rect">
            <a:avLst/>
          </a:prstGeom>
          <a:solidFill>
            <a:srgbClr val="10283E"/>
          </a:solidFill>
          <a:ln>
            <a:solidFill>
              <a:srgbClr val="284763">
                <a:alpha val="42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38D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Приложение 11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749808" y="841248"/>
            <a:ext cx="6812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6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Безопасность и контроль входного контура уже заложены в продукт</a:t>
            </a:r>
            <a:endParaRPr lang="en-US" sz="1656" dirty="0"/>
          </a:p>
        </p:txBody>
      </p:sp>
      <p:sp>
        <p:nvSpPr>
          <p:cNvPr id="9" name="Text 7"/>
          <p:cNvSpPr/>
          <p:nvPr/>
        </p:nvSpPr>
        <p:spPr>
          <a:xfrm>
            <a:off x="749808" y="1545336"/>
            <a:ext cx="6812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Справочный слайд для вопросов об API discipline и управляемости ошибок.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41248" y="1920240"/>
            <a:ext cx="4956048" cy="1325880"/>
          </a:xfrm>
          <a:prstGeom prst="roundRect">
            <a:avLst>
              <a:gd name="adj" fmla="val 4138"/>
            </a:avLst>
          </a:prstGeom>
          <a:solidFill>
            <a:srgbClr val="0D2031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9264" y="2029968"/>
            <a:ext cx="4700016" cy="45720"/>
          </a:xfrm>
          <a:prstGeom prst="roundRect">
            <a:avLst>
              <a:gd name="adj" fmla="val 50000"/>
            </a:avLst>
          </a:prstGeom>
          <a:solidFill>
            <a:srgbClr val="38D2FF"/>
          </a:solidFill>
          <a:ln w="12700">
            <a:solidFill>
              <a:srgbClr val="38D2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2139696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Auth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1042416" y="2523744"/>
            <a:ext cx="4553712" cy="3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X-API-Key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DEV_MODE shortcut для локальной разработки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6108192" y="1920240"/>
            <a:ext cx="4956048" cy="1325880"/>
          </a:xfrm>
          <a:prstGeom prst="roundRect">
            <a:avLst>
              <a:gd name="adj" fmla="val 4138"/>
            </a:avLst>
          </a:prstGeom>
          <a:solidFill>
            <a:srgbClr val="0D2031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36208" y="2029968"/>
            <a:ext cx="4700016" cy="45720"/>
          </a:xfrm>
          <a:prstGeom prst="roundRect">
            <a:avLst>
              <a:gd name="adj" fmla="val 50000"/>
            </a:avLst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139696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Validation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6309360" y="2523744"/>
            <a:ext cx="4553712" cy="439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PDF magic header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пустой файл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лимит 50 МБ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841248" y="3410712"/>
            <a:ext cx="4956048" cy="1325880"/>
          </a:xfrm>
          <a:prstGeom prst="roundRect">
            <a:avLst>
              <a:gd name="adj" fmla="val 4138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9264" y="3520440"/>
            <a:ext cx="4700016" cy="45720"/>
          </a:xfrm>
          <a:prstGeom prst="roundRect">
            <a:avLst>
              <a:gd name="adj" fmla="val 50000"/>
            </a:avLst>
          </a:prstGeom>
          <a:solidFill>
            <a:srgbClr val="FFC55C"/>
          </a:solidFill>
          <a:ln w="12700">
            <a:solidFill>
              <a:srgbClr val="FFC55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3630168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Error contract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1042416" y="4014216"/>
            <a:ext cx="455371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400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401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404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422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429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500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503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6108192" y="3410712"/>
            <a:ext cx="4956048" cy="1325880"/>
          </a:xfrm>
          <a:prstGeom prst="roundRect">
            <a:avLst>
              <a:gd name="adj" fmla="val 4138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36208" y="3520440"/>
            <a:ext cx="4700016" cy="45720"/>
          </a:xfrm>
          <a:prstGeom prst="roundRect">
            <a:avLst>
              <a:gd name="adj" fmla="val 50000"/>
            </a:avLst>
          </a:prstGeom>
          <a:solidFill>
            <a:srgbClr val="FF7A7A"/>
          </a:solidFill>
          <a:ln w="12700">
            <a:solidFill>
              <a:srgbClr val="FF7A7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3630168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Closed contour</a:t>
            </a:r>
            <a:endParaRPr lang="en-US" sz="860" dirty="0"/>
          </a:p>
        </p:txBody>
      </p:sp>
      <p:sp>
        <p:nvSpPr>
          <p:cNvPr id="25" name="Text 23"/>
          <p:cNvSpPr/>
          <p:nvPr/>
        </p:nvSpPr>
        <p:spPr>
          <a:xfrm>
            <a:off x="6309360" y="4014216"/>
            <a:ext cx="4553712" cy="194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частный / локальный режим для более чувствительных клиентов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713232" y="640994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NeoFin AI | приложение / ответы | 30.03.2026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10991088" y="635508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38D2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26</a:t>
            </a:r>
            <a:endParaRPr lang="en-US" sz="9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5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92608"/>
            <a:ext cx="11484864" cy="6291072"/>
          </a:xfrm>
          <a:prstGeom prst="rect">
            <a:avLst/>
          </a:prstGeom>
          <a:solidFill>
            <a:srgbClr val="05111C">
              <a:alpha val="0"/>
            </a:srgbClr>
          </a:solidFill>
          <a:ln w="12700">
            <a:solidFill>
              <a:srgbClr val="284763">
                <a:alpha val="2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84464" y="73152"/>
            <a:ext cx="3493008" cy="2340864"/>
          </a:xfrm>
          <a:prstGeom prst="ellipse">
            <a:avLst/>
          </a:prstGeom>
          <a:solidFill>
            <a:srgbClr val="173247">
              <a:alpha val="16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4882896"/>
            <a:ext cx="2542032" cy="1755648"/>
          </a:xfrm>
          <a:prstGeom prst="ellipse">
            <a:avLst/>
          </a:prstGeom>
          <a:solidFill>
            <a:srgbClr val="27435B">
              <a:alpha val="12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66928"/>
            <a:ext cx="1463040" cy="0"/>
          </a:xfrm>
          <a:prstGeom prst="line">
            <a:avLst/>
          </a:prstGeom>
          <a:noFill/>
          <a:ln w="12700">
            <a:solidFill>
              <a:srgbClr val="38D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28048" y="493776"/>
            <a:ext cx="1847088" cy="219456"/>
          </a:xfrm>
          <a:prstGeom prst="rect">
            <a:avLst/>
          </a:prstGeom>
          <a:solidFill>
            <a:srgbClr val="0D2031"/>
          </a:solidFill>
          <a:ln>
            <a:solidFill>
              <a:srgbClr val="284763">
                <a:alpha val="3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ПРИЛОЖЕНИЕ / ОТВЕТЫ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749808" y="438912"/>
            <a:ext cx="1572768" cy="219456"/>
          </a:xfrm>
          <a:prstGeom prst="rect">
            <a:avLst/>
          </a:prstGeom>
          <a:solidFill>
            <a:srgbClr val="10283E"/>
          </a:solidFill>
          <a:ln>
            <a:solidFill>
              <a:srgbClr val="284763">
                <a:alpha val="42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38D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Приложение 12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749808" y="841248"/>
            <a:ext cx="6812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94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Contest demo — это не удачный случай, а подготовленный runbook</a:t>
            </a:r>
            <a:endParaRPr lang="en-US" sz="1694" dirty="0"/>
          </a:p>
        </p:txBody>
      </p:sp>
      <p:sp>
        <p:nvSpPr>
          <p:cNvPr id="9" name="Text 7"/>
          <p:cNvSpPr/>
          <p:nvPr/>
        </p:nvSpPr>
        <p:spPr>
          <a:xfrm>
            <a:off x="749808" y="1545336"/>
            <a:ext cx="6812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Презентационный контур уже обёрнут в операционную дисциплину, что сильно повышает доверие к проекту.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749808" y="1938528"/>
            <a:ext cx="5010912" cy="3639312"/>
          </a:xfrm>
          <a:prstGeom prst="roundRect">
            <a:avLst>
              <a:gd name="adj" fmla="val 1508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" y="2048256"/>
            <a:ext cx="4754880" cy="45720"/>
          </a:xfrm>
          <a:prstGeom prst="roundRect">
            <a:avLst>
              <a:gd name="adj" fmla="val 50000"/>
            </a:avLst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157984"/>
            <a:ext cx="4608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Что закреплено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987552" y="2651760"/>
            <a:ext cx="82296" cy="82296"/>
          </a:xfrm>
          <a:prstGeom prst="ellipse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33856" y="2578608"/>
            <a:ext cx="440740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эталонных сценария в demo_manifest.json.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987552" y="2938272"/>
            <a:ext cx="82296" cy="82296"/>
          </a:xfrm>
          <a:prstGeom prst="ellipse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3856" y="2865120"/>
            <a:ext cx="440740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Smoke automation для полного цикла upload -&gt; completed.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987552" y="3224784"/>
            <a:ext cx="82296" cy="82296"/>
          </a:xfrm>
          <a:prstGeom prst="ellipse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33856" y="3151632"/>
            <a:ext cx="440740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Operator card и backup stand для репетиций и показа.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6236208" y="1938528"/>
            <a:ext cx="5120640" cy="3639312"/>
          </a:xfrm>
          <a:prstGeom prst="roundRect">
            <a:avLst>
              <a:gd name="adj" fmla="val 1508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64224" y="2048256"/>
            <a:ext cx="4864608" cy="45720"/>
          </a:xfrm>
          <a:prstGeom prst="roundRect">
            <a:avLst>
              <a:gd name="adj" fmla="val 50000"/>
            </a:avLst>
          </a:prstGeom>
          <a:solidFill>
            <a:srgbClr val="38D2FF"/>
          </a:solidFill>
          <a:ln w="12700">
            <a:solidFill>
              <a:srgbClr val="38D2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37376" y="2157984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Почему это усиливает проект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6473952" y="2578608"/>
            <a:ext cx="4681728" cy="841248"/>
          </a:xfrm>
          <a:prstGeom prst="roundRect">
            <a:avLst>
              <a:gd name="adj" fmla="val 6522"/>
            </a:avLst>
          </a:prstGeom>
          <a:solidFill>
            <a:srgbClr val="0D2031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01968" y="2688336"/>
            <a:ext cx="4425696" cy="45720"/>
          </a:xfrm>
          <a:prstGeom prst="roundRect">
            <a:avLst>
              <a:gd name="adj" fmla="val 50000"/>
            </a:avLst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2798064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Repeatable</a:t>
            </a:r>
            <a:endParaRPr lang="en-US" sz="860" dirty="0"/>
          </a:p>
        </p:txBody>
      </p:sp>
      <p:sp>
        <p:nvSpPr>
          <p:cNvPr id="25" name="Text 23"/>
          <p:cNvSpPr/>
          <p:nvPr/>
        </p:nvSpPr>
        <p:spPr>
          <a:xfrm>
            <a:off x="6675120" y="3182112"/>
            <a:ext cx="42793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Демо можно прогонять многократно с одним контрактом ожиданий.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6473952" y="3566160"/>
            <a:ext cx="4681728" cy="841248"/>
          </a:xfrm>
          <a:prstGeom prst="roundRect">
            <a:avLst>
              <a:gd name="adj" fmla="val 6522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01968" y="3675888"/>
            <a:ext cx="4425696" cy="45720"/>
          </a:xfrm>
          <a:prstGeom prst="roundRect">
            <a:avLst>
              <a:gd name="adj" fmla="val 50000"/>
            </a:avLst>
          </a:prstGeom>
          <a:solidFill>
            <a:srgbClr val="38D2FF"/>
          </a:solidFill>
          <a:ln w="12700">
            <a:solidFill>
              <a:srgbClr val="38D2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0" y="3785616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Observable</a:t>
            </a:r>
            <a:endParaRPr lang="en-US" sz="860" dirty="0"/>
          </a:p>
        </p:txBody>
      </p:sp>
      <p:sp>
        <p:nvSpPr>
          <p:cNvPr id="29" name="Text 27"/>
          <p:cNvSpPr/>
          <p:nvPr/>
        </p:nvSpPr>
        <p:spPr>
          <a:xfrm>
            <a:off x="6675120" y="4169664"/>
            <a:ext cx="42793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Статусы и ошибки не скрыты, а управляются через runtime path.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6473952" y="4553712"/>
            <a:ext cx="4681728" cy="841248"/>
          </a:xfrm>
          <a:prstGeom prst="roundRect">
            <a:avLst>
              <a:gd name="adj" fmla="val 6522"/>
            </a:avLst>
          </a:prstGeom>
          <a:solidFill>
            <a:srgbClr val="0D2031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01968" y="4663440"/>
            <a:ext cx="4425696" cy="45720"/>
          </a:xfrm>
          <a:prstGeom prst="roundRect">
            <a:avLst>
              <a:gd name="adj" fmla="val 50000"/>
            </a:avLst>
          </a:prstGeom>
          <a:solidFill>
            <a:srgbClr val="FFC55C"/>
          </a:solidFill>
          <a:ln w="12700">
            <a:solidFill>
              <a:srgbClr val="FFC55C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0" y="4773168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Contest-ready</a:t>
            </a:r>
            <a:endParaRPr lang="en-US" sz="860" dirty="0"/>
          </a:p>
        </p:txBody>
      </p:sp>
      <p:sp>
        <p:nvSpPr>
          <p:cNvPr id="33" name="Text 31"/>
          <p:cNvSpPr/>
          <p:nvPr/>
        </p:nvSpPr>
        <p:spPr>
          <a:xfrm>
            <a:off x="6675120" y="5157216"/>
            <a:ext cx="42793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Есть ясный сценарий основного и резервного показа.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713232" y="640994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NeoFin AI | приложение / ответы | 30.03.2026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10991088" y="635508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38D2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27</a:t>
            </a:r>
            <a:endParaRPr lang="en-US" sz="92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5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92608"/>
            <a:ext cx="11484864" cy="6291072"/>
          </a:xfrm>
          <a:prstGeom prst="rect">
            <a:avLst/>
          </a:prstGeom>
          <a:solidFill>
            <a:srgbClr val="05111C">
              <a:alpha val="0"/>
            </a:srgbClr>
          </a:solidFill>
          <a:ln w="12700">
            <a:solidFill>
              <a:srgbClr val="284763">
                <a:alpha val="2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84464" y="73152"/>
            <a:ext cx="3493008" cy="2340864"/>
          </a:xfrm>
          <a:prstGeom prst="ellipse">
            <a:avLst/>
          </a:prstGeom>
          <a:solidFill>
            <a:srgbClr val="173247">
              <a:alpha val="16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4882896"/>
            <a:ext cx="2542032" cy="1755648"/>
          </a:xfrm>
          <a:prstGeom prst="ellipse">
            <a:avLst/>
          </a:prstGeom>
          <a:solidFill>
            <a:srgbClr val="27435B">
              <a:alpha val="12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66928"/>
            <a:ext cx="1463040" cy="0"/>
          </a:xfrm>
          <a:prstGeom prst="line">
            <a:avLst/>
          </a:prstGeom>
          <a:noFill/>
          <a:ln w="12700">
            <a:solidFill>
              <a:srgbClr val="38D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28048" y="493776"/>
            <a:ext cx="1847088" cy="219456"/>
          </a:xfrm>
          <a:prstGeom prst="rect">
            <a:avLst/>
          </a:prstGeom>
          <a:solidFill>
            <a:srgbClr val="0D2031"/>
          </a:solidFill>
          <a:ln>
            <a:solidFill>
              <a:srgbClr val="284763">
                <a:alpha val="3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ПРИЛОЖЕНИЕ / ОТВЕТЫ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749808" y="438912"/>
            <a:ext cx="1572768" cy="219456"/>
          </a:xfrm>
          <a:prstGeom prst="rect">
            <a:avLst/>
          </a:prstGeom>
          <a:solidFill>
            <a:srgbClr val="10283E"/>
          </a:solidFill>
          <a:ln>
            <a:solidFill>
              <a:srgbClr val="284763">
                <a:alpha val="42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38D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Приложение 13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749808" y="841248"/>
            <a:ext cx="6812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Эталонные demo-сценарии покрывают три ключевых режима продукта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1545336"/>
            <a:ext cx="6812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Это не только красиво для защиты, но и полезно как regression-набор для дальнейшей разработки.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969264" y="2011680"/>
            <a:ext cx="2377440" cy="1298448"/>
          </a:xfrm>
          <a:prstGeom prst="roundRect">
            <a:avLst>
              <a:gd name="adj" fmla="val 4225"/>
            </a:avLst>
          </a:prstGeom>
          <a:solidFill>
            <a:srgbClr val="10283E"/>
          </a:solidFill>
          <a:ln w="12700">
            <a:solidFill>
              <a:srgbClr val="284763">
                <a:alpha val="4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" y="2176272"/>
            <a:ext cx="2084832" cy="0"/>
          </a:xfrm>
          <a:prstGeom prst="line">
            <a:avLst/>
          </a:prstGeom>
          <a:noFill/>
          <a:ln w="12700">
            <a:solidFill>
              <a:srgbClr val="38D2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33856" y="2267712"/>
            <a:ext cx="2048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text_single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33856" y="2926080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текстовый PDF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3602736" y="2011680"/>
            <a:ext cx="2377440" cy="1298448"/>
          </a:xfrm>
          <a:prstGeom prst="roundRect">
            <a:avLst>
              <a:gd name="adj" fmla="val 4225"/>
            </a:avLst>
          </a:prstGeom>
          <a:solidFill>
            <a:srgbClr val="10283E"/>
          </a:solidFill>
          <a:ln w="12700">
            <a:solidFill>
              <a:srgbClr val="284763">
                <a:alpha val="4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2176272"/>
            <a:ext cx="2084832" cy="0"/>
          </a:xfrm>
          <a:prstGeom prst="line">
            <a:avLst/>
          </a:prstGeom>
          <a:noFill/>
          <a:ln w="12700">
            <a:solidFill>
              <a:srgbClr val="2EE6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67328" y="2267712"/>
            <a:ext cx="2048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scanned_single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67328" y="2926080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OCR-heavy документ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6236208" y="2011680"/>
            <a:ext cx="2377440" cy="1298448"/>
          </a:xfrm>
          <a:prstGeom prst="roundRect">
            <a:avLst>
              <a:gd name="adj" fmla="val 4225"/>
            </a:avLst>
          </a:prstGeom>
          <a:solidFill>
            <a:srgbClr val="10283E"/>
          </a:solidFill>
          <a:ln w="12700">
            <a:solidFill>
              <a:srgbClr val="284763">
                <a:alpha val="4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82512" y="2176272"/>
            <a:ext cx="2084832" cy="0"/>
          </a:xfrm>
          <a:prstGeom prst="line">
            <a:avLst/>
          </a:prstGeom>
          <a:noFill/>
          <a:ln w="12700">
            <a:solidFill>
              <a:srgbClr val="FFC5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2267712"/>
            <a:ext cx="2048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multi_period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0" y="2926080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несколько периодов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841248" y="4096512"/>
            <a:ext cx="4956048" cy="1627632"/>
          </a:xfrm>
          <a:prstGeom prst="roundRect">
            <a:avLst>
              <a:gd name="adj" fmla="val 3371"/>
            </a:avLst>
          </a:prstGeom>
          <a:solidFill>
            <a:srgbClr val="0D2031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9264" y="4206240"/>
            <a:ext cx="4700016" cy="45720"/>
          </a:xfrm>
          <a:prstGeom prst="roundRect">
            <a:avLst>
              <a:gd name="adj" fmla="val 50000"/>
            </a:avLst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42416" y="4315968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Инженерный смысл</a:t>
            </a:r>
            <a:endParaRPr lang="en-US" sz="860" dirty="0"/>
          </a:p>
        </p:txBody>
      </p:sp>
      <p:sp>
        <p:nvSpPr>
          <p:cNvPr id="25" name="Text 23"/>
          <p:cNvSpPr/>
          <p:nvPr/>
        </p:nvSpPr>
        <p:spPr>
          <a:xfrm>
            <a:off x="1042416" y="4700016"/>
            <a:ext cx="4553712" cy="334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Сценарии работают как публичное доказательство продукта и как regression-lock для самых важных потоков.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89904" y="4096512"/>
            <a:ext cx="4956048" cy="1627632"/>
          </a:xfrm>
          <a:prstGeom prst="roundRect">
            <a:avLst>
              <a:gd name="adj" fmla="val 3371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4206240"/>
            <a:ext cx="4700016" cy="45720"/>
          </a:xfrm>
          <a:prstGeom prst="roundRect">
            <a:avLst>
              <a:gd name="adj" fmla="val 50000"/>
            </a:avLst>
          </a:prstGeom>
          <a:solidFill>
            <a:srgbClr val="38D2FF"/>
          </a:solidFill>
          <a:ln w="12700">
            <a:solidFill>
              <a:srgbClr val="38D2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91072" y="4315968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Защитный смысл</a:t>
            </a:r>
            <a:endParaRPr lang="en-US" sz="860" dirty="0"/>
          </a:p>
        </p:txBody>
      </p:sp>
      <p:sp>
        <p:nvSpPr>
          <p:cNvPr id="29" name="Text 27"/>
          <p:cNvSpPr/>
          <p:nvPr/>
        </p:nvSpPr>
        <p:spPr>
          <a:xfrm>
            <a:off x="6291072" y="4700016"/>
            <a:ext cx="4553712" cy="334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Жюри видит не просто интерфейс, а продукт, который умеет стабильно воспроизводить демонстрацию.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13232" y="640994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NeoFin AI | приложение / ответы | 30.03.2026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10991088" y="635508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38D2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28</a:t>
            </a:r>
            <a:endParaRPr lang="en-US" sz="92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5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92608"/>
            <a:ext cx="11484864" cy="6291072"/>
          </a:xfrm>
          <a:prstGeom prst="rect">
            <a:avLst/>
          </a:prstGeom>
          <a:solidFill>
            <a:srgbClr val="05111C">
              <a:alpha val="0"/>
            </a:srgbClr>
          </a:solidFill>
          <a:ln w="12700">
            <a:solidFill>
              <a:srgbClr val="284763">
                <a:alpha val="2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84464" y="73152"/>
            <a:ext cx="3493008" cy="2340864"/>
          </a:xfrm>
          <a:prstGeom prst="ellipse">
            <a:avLst/>
          </a:prstGeom>
          <a:solidFill>
            <a:srgbClr val="173247">
              <a:alpha val="16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4882896"/>
            <a:ext cx="2542032" cy="1755648"/>
          </a:xfrm>
          <a:prstGeom prst="ellipse">
            <a:avLst/>
          </a:prstGeom>
          <a:solidFill>
            <a:srgbClr val="27435B">
              <a:alpha val="12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66928"/>
            <a:ext cx="1463040" cy="0"/>
          </a:xfrm>
          <a:prstGeom prst="line">
            <a:avLst/>
          </a:prstGeom>
          <a:noFill/>
          <a:ln w="12700">
            <a:solidFill>
              <a:srgbClr val="38D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28048" y="493776"/>
            <a:ext cx="1847088" cy="219456"/>
          </a:xfrm>
          <a:prstGeom prst="rect">
            <a:avLst/>
          </a:prstGeom>
          <a:solidFill>
            <a:srgbClr val="0D2031"/>
          </a:solidFill>
          <a:ln>
            <a:solidFill>
              <a:srgbClr val="284763">
                <a:alpha val="3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ПРИЛОЖЕНИЕ / ОТВЕТЫ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749808" y="438912"/>
            <a:ext cx="1572768" cy="219456"/>
          </a:xfrm>
          <a:prstGeom prst="rect">
            <a:avLst/>
          </a:prstGeom>
          <a:solidFill>
            <a:srgbClr val="10283E"/>
          </a:solidFill>
          <a:ln>
            <a:solidFill>
              <a:srgbClr val="284763">
                <a:alpha val="42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38D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Приложение 14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749808" y="841248"/>
            <a:ext cx="6812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5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Многопериодный режим даёт ценность выше разового разбора отчёта</a:t>
            </a:r>
            <a:endParaRPr lang="en-US" sz="1605" dirty="0"/>
          </a:p>
        </p:txBody>
      </p:sp>
      <p:sp>
        <p:nvSpPr>
          <p:cNvPr id="9" name="Text 7"/>
          <p:cNvSpPr/>
          <p:nvPr/>
        </p:nvSpPr>
        <p:spPr>
          <a:xfrm>
            <a:off x="749808" y="1545336"/>
            <a:ext cx="6812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Это важный переход от единичной автоматизации к инструменту мониторинга и сравнения динамики.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749808" y="1938528"/>
            <a:ext cx="5010912" cy="3639312"/>
          </a:xfrm>
          <a:prstGeom prst="roundRect">
            <a:avLst>
              <a:gd name="adj" fmla="val 1508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" y="2048256"/>
            <a:ext cx="4754880" cy="45720"/>
          </a:xfrm>
          <a:prstGeom prst="roundRect">
            <a:avLst>
              <a:gd name="adj" fmla="val 50000"/>
            </a:avLst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157984"/>
            <a:ext cx="4608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Что происходит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987552" y="2651760"/>
            <a:ext cx="82296" cy="82296"/>
          </a:xfrm>
          <a:prstGeom prst="ellipse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33856" y="2578608"/>
            <a:ext cx="440740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Несколько отчётов одной компании собираются в одну session.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987552" y="2938272"/>
            <a:ext cx="82296" cy="82296"/>
          </a:xfrm>
          <a:prstGeom prst="ellipse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3856" y="2865120"/>
            <a:ext cx="440740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Периоды сортируются хронологически.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987552" y="3224784"/>
            <a:ext cx="82296" cy="82296"/>
          </a:xfrm>
          <a:prstGeom prst="ellipse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33856" y="3151632"/>
            <a:ext cx="440740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Для каждого периода сохраняются ratios, score, risk_level и extraction metadata.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6236208" y="1938528"/>
            <a:ext cx="5120640" cy="3639312"/>
          </a:xfrm>
          <a:prstGeom prst="roundRect">
            <a:avLst>
              <a:gd name="adj" fmla="val 1508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64224" y="2048256"/>
            <a:ext cx="4864608" cy="45720"/>
          </a:xfrm>
          <a:prstGeom prst="roundRect">
            <a:avLst>
              <a:gd name="adj" fmla="val 50000"/>
            </a:avLst>
          </a:prstGeom>
          <a:solidFill>
            <a:srgbClr val="38D2FF"/>
          </a:solidFill>
          <a:ln w="12700">
            <a:solidFill>
              <a:srgbClr val="38D2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37376" y="2157984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Почему это полезно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6473952" y="2578608"/>
            <a:ext cx="4681728" cy="841248"/>
          </a:xfrm>
          <a:prstGeom prst="roundRect">
            <a:avLst>
              <a:gd name="adj" fmla="val 6522"/>
            </a:avLst>
          </a:prstGeom>
          <a:solidFill>
            <a:srgbClr val="0D2031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01968" y="2688336"/>
            <a:ext cx="4425696" cy="45720"/>
          </a:xfrm>
          <a:prstGeom prst="roundRect">
            <a:avLst>
              <a:gd name="adj" fmla="val 50000"/>
            </a:avLst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2798064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Trend view</a:t>
            </a:r>
            <a:endParaRPr lang="en-US" sz="860" dirty="0"/>
          </a:p>
        </p:txBody>
      </p:sp>
      <p:sp>
        <p:nvSpPr>
          <p:cNvPr id="25" name="Text 23"/>
          <p:cNvSpPr/>
          <p:nvPr/>
        </p:nvSpPr>
        <p:spPr>
          <a:xfrm>
            <a:off x="6675120" y="3182112"/>
            <a:ext cx="42793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Можно видеть направление, а не только статичную фотографию состояния.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6473952" y="3566160"/>
            <a:ext cx="4681728" cy="841248"/>
          </a:xfrm>
          <a:prstGeom prst="roundRect">
            <a:avLst>
              <a:gd name="adj" fmla="val 6522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01968" y="3675888"/>
            <a:ext cx="4425696" cy="45720"/>
          </a:xfrm>
          <a:prstGeom prst="roundRect">
            <a:avLst>
              <a:gd name="adj" fmla="val 50000"/>
            </a:avLst>
          </a:prstGeom>
          <a:solidFill>
            <a:srgbClr val="38D2FF"/>
          </a:solidFill>
          <a:ln w="12700">
            <a:solidFill>
              <a:srgbClr val="38D2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0" y="3785616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Monitoring</a:t>
            </a:r>
            <a:endParaRPr lang="en-US" sz="860" dirty="0"/>
          </a:p>
        </p:txBody>
      </p:sp>
      <p:sp>
        <p:nvSpPr>
          <p:cNvPr id="29" name="Text 27"/>
          <p:cNvSpPr/>
          <p:nvPr/>
        </p:nvSpPr>
        <p:spPr>
          <a:xfrm>
            <a:off x="6675120" y="4169664"/>
            <a:ext cx="42793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Подходит для повторяемого внутреннего и клиентского анализа.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6473952" y="4553712"/>
            <a:ext cx="4681728" cy="841248"/>
          </a:xfrm>
          <a:prstGeom prst="roundRect">
            <a:avLst>
              <a:gd name="adj" fmla="val 6522"/>
            </a:avLst>
          </a:prstGeom>
          <a:solidFill>
            <a:srgbClr val="0D2031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01968" y="4663440"/>
            <a:ext cx="4425696" cy="45720"/>
          </a:xfrm>
          <a:prstGeom prst="roundRect">
            <a:avLst>
              <a:gd name="adj" fmla="val 50000"/>
            </a:avLst>
          </a:prstGeom>
          <a:solidFill>
            <a:srgbClr val="FFC55C"/>
          </a:solidFill>
          <a:ln w="12700">
            <a:solidFill>
              <a:srgbClr val="FFC55C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0" y="4773168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Robustness</a:t>
            </a:r>
            <a:endParaRPr lang="en-US" sz="860" dirty="0"/>
          </a:p>
        </p:txBody>
      </p:sp>
      <p:sp>
        <p:nvSpPr>
          <p:cNvPr id="33" name="Text 31"/>
          <p:cNvSpPr/>
          <p:nvPr/>
        </p:nvSpPr>
        <p:spPr>
          <a:xfrm>
            <a:off x="6675120" y="5157216"/>
            <a:ext cx="42793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Частичные ошибки периода не обнуляют ценность всей сессии.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713232" y="640994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NeoFin AI | приложение / ответы | 30.03.2026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10991088" y="635508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38D2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29</a:t>
            </a:r>
            <a:endParaRPr lang="en-US" sz="92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5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92608"/>
            <a:ext cx="11484864" cy="6291072"/>
          </a:xfrm>
          <a:prstGeom prst="rect">
            <a:avLst/>
          </a:prstGeom>
          <a:solidFill>
            <a:srgbClr val="05111C">
              <a:alpha val="0"/>
            </a:srgbClr>
          </a:solidFill>
          <a:ln w="12700">
            <a:solidFill>
              <a:srgbClr val="284763">
                <a:alpha val="2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84464" y="73152"/>
            <a:ext cx="3493008" cy="2340864"/>
          </a:xfrm>
          <a:prstGeom prst="ellipse">
            <a:avLst/>
          </a:prstGeom>
          <a:solidFill>
            <a:srgbClr val="173247">
              <a:alpha val="16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4882896"/>
            <a:ext cx="2542032" cy="1755648"/>
          </a:xfrm>
          <a:prstGeom prst="ellipse">
            <a:avLst/>
          </a:prstGeom>
          <a:solidFill>
            <a:srgbClr val="27435B">
              <a:alpha val="12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66928"/>
            <a:ext cx="1463040" cy="0"/>
          </a:xfrm>
          <a:prstGeom prst="line">
            <a:avLst/>
          </a:prstGeom>
          <a:noFill/>
          <a:ln w="12700">
            <a:solidFill>
              <a:srgbClr val="38D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28048" y="493776"/>
            <a:ext cx="1847088" cy="219456"/>
          </a:xfrm>
          <a:prstGeom prst="rect">
            <a:avLst/>
          </a:prstGeom>
          <a:solidFill>
            <a:srgbClr val="0D2031"/>
          </a:solidFill>
          <a:ln>
            <a:solidFill>
              <a:srgbClr val="284763">
                <a:alpha val="3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ПРИЛОЖЕНИЕ / ОТВЕТЫ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749808" y="438912"/>
            <a:ext cx="1572768" cy="219456"/>
          </a:xfrm>
          <a:prstGeom prst="rect">
            <a:avLst/>
          </a:prstGeom>
          <a:solidFill>
            <a:srgbClr val="10283E"/>
          </a:solidFill>
          <a:ln>
            <a:solidFill>
              <a:srgbClr val="284763">
                <a:alpha val="42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38D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Приложение 15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749808" y="841248"/>
            <a:ext cx="6812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95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Ценность NeoFin AI по ролям и типам клиентов</a:t>
            </a:r>
            <a:endParaRPr lang="en-US" sz="2195" dirty="0"/>
          </a:p>
        </p:txBody>
      </p:sp>
      <p:sp>
        <p:nvSpPr>
          <p:cNvPr id="9" name="Text 7"/>
          <p:cNvSpPr/>
          <p:nvPr/>
        </p:nvSpPr>
        <p:spPr>
          <a:xfrm>
            <a:off x="749808" y="1545336"/>
            <a:ext cx="6812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Справочный слайд для разговоров о клиентах и прикладных сценариях использования.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41248" y="1920240"/>
            <a:ext cx="4956048" cy="1325880"/>
          </a:xfrm>
          <a:prstGeom prst="roundRect">
            <a:avLst>
              <a:gd name="adj" fmla="val 4138"/>
            </a:avLst>
          </a:prstGeom>
          <a:solidFill>
            <a:srgbClr val="0D2031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9264" y="2029968"/>
            <a:ext cx="4700016" cy="45720"/>
          </a:xfrm>
          <a:prstGeom prst="roundRect">
            <a:avLst>
              <a:gd name="adj" fmla="val 50000"/>
            </a:avLst>
          </a:prstGeom>
          <a:solidFill>
            <a:srgbClr val="38D2FF"/>
          </a:solidFill>
          <a:ln w="12700">
            <a:solidFill>
              <a:srgbClr val="38D2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2139696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Финансовая команда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1042416" y="2523744"/>
            <a:ext cx="4553712" cy="45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Меньше ручной подготовки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Быстрее материалы для решений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Стандартизированный результат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6108192" y="1920240"/>
            <a:ext cx="4956048" cy="1325880"/>
          </a:xfrm>
          <a:prstGeom prst="roundRect">
            <a:avLst>
              <a:gd name="adj" fmla="val 4138"/>
            </a:avLst>
          </a:prstGeom>
          <a:solidFill>
            <a:srgbClr val="0D2031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36208" y="2029968"/>
            <a:ext cx="4700016" cy="45720"/>
          </a:xfrm>
          <a:prstGeom prst="roundRect">
            <a:avLst>
              <a:gd name="adj" fmla="val 50000"/>
            </a:avLst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139696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Аудитор / консультант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6309360" y="2523744"/>
            <a:ext cx="4553712" cy="45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Быстрее первичный разбор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Более единый вход в экспертную работу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Меньше механической рутины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841248" y="3410712"/>
            <a:ext cx="4956048" cy="1325880"/>
          </a:xfrm>
          <a:prstGeom prst="roundRect">
            <a:avLst>
              <a:gd name="adj" fmla="val 4138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9264" y="3520440"/>
            <a:ext cx="4700016" cy="45720"/>
          </a:xfrm>
          <a:prstGeom prst="roundRect">
            <a:avLst>
              <a:gd name="adj" fmla="val 50000"/>
            </a:avLst>
          </a:prstGeom>
          <a:solidFill>
            <a:srgbClr val="FFC55C"/>
          </a:solidFill>
          <a:ln w="12700">
            <a:solidFill>
              <a:srgbClr val="FFC55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3630168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Банк / риск-контур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1042416" y="4014216"/>
            <a:ext cx="4553712" cy="45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Traceability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Повторяемость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Интерес к закрытому режиму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6108192" y="3410712"/>
            <a:ext cx="4956048" cy="1325880"/>
          </a:xfrm>
          <a:prstGeom prst="roundRect">
            <a:avLst>
              <a:gd name="adj" fmla="val 4138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36208" y="3520440"/>
            <a:ext cx="4700016" cy="45720"/>
          </a:xfrm>
          <a:prstGeom prst="roundRect">
            <a:avLst>
              <a:gd name="adj" fmla="val 50000"/>
            </a:avLst>
          </a:prstGeom>
          <a:solidFill>
            <a:srgbClr val="38D2FF"/>
          </a:solidFill>
          <a:ln w="12700">
            <a:solidFill>
              <a:srgbClr val="38D2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3630168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Средний бизнес</a:t>
            </a:r>
            <a:endParaRPr lang="en-US" sz="860" dirty="0"/>
          </a:p>
        </p:txBody>
      </p:sp>
      <p:sp>
        <p:nvSpPr>
          <p:cNvPr id="25" name="Text 23"/>
          <p:cNvSpPr/>
          <p:nvPr/>
        </p:nvSpPr>
        <p:spPr>
          <a:xfrm>
            <a:off x="6309360" y="4014216"/>
            <a:ext cx="4553712" cy="45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Ускорение внутреннего анализа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Повторяемый workflow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История запусков и контроль статусов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713232" y="640994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NeoFin AI | приложение / ответы | 30.03.2026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10991088" y="635508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38D2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30</a:t>
            </a:r>
            <a:endParaRPr lang="en-US" sz="92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5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92608"/>
            <a:ext cx="11484864" cy="6291072"/>
          </a:xfrm>
          <a:prstGeom prst="rect">
            <a:avLst/>
          </a:prstGeom>
          <a:solidFill>
            <a:srgbClr val="05111C">
              <a:alpha val="0"/>
            </a:srgbClr>
          </a:solidFill>
          <a:ln w="12700">
            <a:solidFill>
              <a:srgbClr val="284763">
                <a:alpha val="2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84464" y="73152"/>
            <a:ext cx="3493008" cy="2340864"/>
          </a:xfrm>
          <a:prstGeom prst="ellipse">
            <a:avLst/>
          </a:prstGeom>
          <a:solidFill>
            <a:srgbClr val="173247">
              <a:alpha val="16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4882896"/>
            <a:ext cx="2542032" cy="1755648"/>
          </a:xfrm>
          <a:prstGeom prst="ellipse">
            <a:avLst/>
          </a:prstGeom>
          <a:solidFill>
            <a:srgbClr val="27435B">
              <a:alpha val="12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66928"/>
            <a:ext cx="1463040" cy="0"/>
          </a:xfrm>
          <a:prstGeom prst="line">
            <a:avLst/>
          </a:prstGeom>
          <a:noFill/>
          <a:ln w="12700">
            <a:solidFill>
              <a:srgbClr val="38D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28048" y="493776"/>
            <a:ext cx="1847088" cy="219456"/>
          </a:xfrm>
          <a:prstGeom prst="rect">
            <a:avLst/>
          </a:prstGeom>
          <a:solidFill>
            <a:srgbClr val="0D2031"/>
          </a:solidFill>
          <a:ln>
            <a:solidFill>
              <a:srgbClr val="284763">
                <a:alpha val="3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ПРИЛОЖЕНИЕ / ОТВЕТЫ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749808" y="438912"/>
            <a:ext cx="1572768" cy="219456"/>
          </a:xfrm>
          <a:prstGeom prst="rect">
            <a:avLst/>
          </a:prstGeom>
          <a:solidFill>
            <a:srgbClr val="10283E"/>
          </a:solidFill>
          <a:ln>
            <a:solidFill>
              <a:srgbClr val="284763">
                <a:alpha val="42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38D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Приложение 16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749808" y="841248"/>
            <a:ext cx="6812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19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Экономика проекта опирается на повторяемую ценность, а не на hype</a:t>
            </a:r>
            <a:endParaRPr lang="en-US" sz="1619" dirty="0"/>
          </a:p>
        </p:txBody>
      </p:sp>
      <p:sp>
        <p:nvSpPr>
          <p:cNvPr id="9" name="Text 7"/>
          <p:cNvSpPr/>
          <p:nvPr/>
        </p:nvSpPr>
        <p:spPr>
          <a:xfrm>
            <a:off x="749808" y="1545336"/>
            <a:ext cx="6812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Справочный слайд для вопросов о бизнес-модели без искусственно раздутых прогнозов.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969264" y="2011680"/>
            <a:ext cx="2468880" cy="1298448"/>
          </a:xfrm>
          <a:prstGeom prst="roundRect">
            <a:avLst>
              <a:gd name="adj" fmla="val 4225"/>
            </a:avLst>
          </a:prstGeom>
          <a:solidFill>
            <a:srgbClr val="10283E"/>
          </a:solidFill>
          <a:ln w="12700">
            <a:solidFill>
              <a:srgbClr val="284763">
                <a:alpha val="4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" y="2176272"/>
            <a:ext cx="2176272" cy="0"/>
          </a:xfrm>
          <a:prstGeom prst="line">
            <a:avLst/>
          </a:prstGeom>
          <a:noFill/>
          <a:ln w="12700">
            <a:solidFill>
              <a:srgbClr val="2EE6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33856" y="2267712"/>
            <a:ext cx="2139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B2B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33856" y="2926080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основная выручка через команды с регулярным потоком документов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3694176" y="2011680"/>
            <a:ext cx="2560320" cy="1298448"/>
          </a:xfrm>
          <a:prstGeom prst="roundRect">
            <a:avLst>
              <a:gd name="adj" fmla="val 4225"/>
            </a:avLst>
          </a:prstGeom>
          <a:solidFill>
            <a:srgbClr val="10283E"/>
          </a:solidFill>
          <a:ln w="12700">
            <a:solidFill>
              <a:srgbClr val="284763">
                <a:alpha val="4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0" y="2176272"/>
            <a:ext cx="2267712" cy="0"/>
          </a:xfrm>
          <a:prstGeom prst="line">
            <a:avLst/>
          </a:prstGeom>
          <a:noFill/>
          <a:ln w="12700">
            <a:solidFill>
              <a:srgbClr val="38D2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58768" y="2267712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SaaS + corporate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58768" y="2926080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сервисный и корпоративный формат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6510528" y="2011680"/>
            <a:ext cx="2377440" cy="1298448"/>
          </a:xfrm>
          <a:prstGeom prst="roundRect">
            <a:avLst>
              <a:gd name="adj" fmla="val 4225"/>
            </a:avLst>
          </a:prstGeom>
          <a:solidFill>
            <a:srgbClr val="10283E"/>
          </a:solidFill>
          <a:ln w="12700">
            <a:solidFill>
              <a:srgbClr val="284763">
                <a:alpha val="4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56832" y="2176272"/>
            <a:ext cx="2084832" cy="0"/>
          </a:xfrm>
          <a:prstGeom prst="line">
            <a:avLst/>
          </a:prstGeom>
          <a:noFill/>
          <a:ln w="12700">
            <a:solidFill>
              <a:srgbClr val="FFC5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2267712"/>
            <a:ext cx="2048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Time saved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675120" y="2926080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главный носитель ценности и цены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841248" y="4096512"/>
            <a:ext cx="4956048" cy="1627632"/>
          </a:xfrm>
          <a:prstGeom prst="roundRect">
            <a:avLst>
              <a:gd name="adj" fmla="val 3371"/>
            </a:avLst>
          </a:prstGeom>
          <a:solidFill>
            <a:srgbClr val="0D2031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9264" y="4206240"/>
            <a:ext cx="4700016" cy="45720"/>
          </a:xfrm>
          <a:prstGeom prst="roundRect">
            <a:avLst>
              <a:gd name="adj" fmla="val 50000"/>
            </a:avLst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42416" y="4315968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Что продаётся на самом деле</a:t>
            </a:r>
            <a:endParaRPr lang="en-US" sz="860" dirty="0"/>
          </a:p>
        </p:txBody>
      </p:sp>
      <p:sp>
        <p:nvSpPr>
          <p:cNvPr id="25" name="Text 23"/>
          <p:cNvSpPr/>
          <p:nvPr/>
        </p:nvSpPr>
        <p:spPr>
          <a:xfrm>
            <a:off x="1042416" y="4700016"/>
            <a:ext cx="4553712" cy="334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Сокращение времени, снижение ручной нагрузки, более управляемый и объяснимый процесс первичного анализа.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89904" y="4096512"/>
            <a:ext cx="4956048" cy="1627632"/>
          </a:xfrm>
          <a:prstGeom prst="roundRect">
            <a:avLst>
              <a:gd name="adj" fmla="val 3371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4206240"/>
            <a:ext cx="4700016" cy="45720"/>
          </a:xfrm>
          <a:prstGeom prst="roundRect">
            <a:avLst>
              <a:gd name="adj" fmla="val 50000"/>
            </a:avLst>
          </a:prstGeom>
          <a:solidFill>
            <a:srgbClr val="38D2FF"/>
          </a:solidFill>
          <a:ln w="12700">
            <a:solidFill>
              <a:srgbClr val="38D2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91072" y="4315968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Почему модель реалистична</a:t>
            </a:r>
            <a:endParaRPr lang="en-US" sz="860" dirty="0"/>
          </a:p>
        </p:txBody>
      </p:sp>
      <p:sp>
        <p:nvSpPr>
          <p:cNvPr id="29" name="Text 27"/>
          <p:cNvSpPr/>
          <p:nvPr/>
        </p:nvSpPr>
        <p:spPr>
          <a:xfrm>
            <a:off x="6291072" y="4700016"/>
            <a:ext cx="4553712" cy="334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 нужен массовый consumer traffic: ценность создаётся в регулярном B2B-workflow с дорогим часом специалиста.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13232" y="640994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NeoFin AI | приложение / ответы | 30.03.2026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10991088" y="635508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38D2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31</a:t>
            </a:r>
            <a:endParaRPr lang="en-US" sz="92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5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92608"/>
            <a:ext cx="11484864" cy="6291072"/>
          </a:xfrm>
          <a:prstGeom prst="rect">
            <a:avLst/>
          </a:prstGeom>
          <a:solidFill>
            <a:srgbClr val="05111C">
              <a:alpha val="0"/>
            </a:srgbClr>
          </a:solidFill>
          <a:ln w="12700">
            <a:solidFill>
              <a:srgbClr val="284763">
                <a:alpha val="2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84464" y="73152"/>
            <a:ext cx="3493008" cy="2340864"/>
          </a:xfrm>
          <a:prstGeom prst="ellipse">
            <a:avLst/>
          </a:prstGeom>
          <a:solidFill>
            <a:srgbClr val="173247">
              <a:alpha val="16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4882896"/>
            <a:ext cx="2542032" cy="1755648"/>
          </a:xfrm>
          <a:prstGeom prst="ellipse">
            <a:avLst/>
          </a:prstGeom>
          <a:solidFill>
            <a:srgbClr val="27435B">
              <a:alpha val="12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66928"/>
            <a:ext cx="1463040" cy="0"/>
          </a:xfrm>
          <a:prstGeom prst="line">
            <a:avLst/>
          </a:prstGeom>
          <a:noFill/>
          <a:ln w="12700">
            <a:solidFill>
              <a:srgbClr val="38D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28048" y="493776"/>
            <a:ext cx="1847088" cy="219456"/>
          </a:xfrm>
          <a:prstGeom prst="rect">
            <a:avLst/>
          </a:prstGeom>
          <a:solidFill>
            <a:srgbClr val="0D2031"/>
          </a:solidFill>
          <a:ln>
            <a:solidFill>
              <a:srgbClr val="284763">
                <a:alpha val="3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ПРИЛОЖЕНИЕ / ОТВЕТЫ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749808" y="438912"/>
            <a:ext cx="1572768" cy="219456"/>
          </a:xfrm>
          <a:prstGeom prst="rect">
            <a:avLst/>
          </a:prstGeom>
          <a:solidFill>
            <a:srgbClr val="10283E"/>
          </a:solidFill>
          <a:ln>
            <a:solidFill>
              <a:srgbClr val="284763">
                <a:alpha val="42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38D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Приложение 17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749808" y="841248"/>
            <a:ext cx="6812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95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Риски, ownership и контакт для следующего шага</a:t>
            </a:r>
            <a:endParaRPr lang="en-US" sz="2195" dirty="0"/>
          </a:p>
        </p:txBody>
      </p:sp>
      <p:sp>
        <p:nvSpPr>
          <p:cNvPr id="9" name="Text 7"/>
          <p:cNvSpPr/>
          <p:nvPr/>
        </p:nvSpPr>
        <p:spPr>
          <a:xfrm>
            <a:off x="749808" y="1545336"/>
            <a:ext cx="6812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Финальный backup-слайд перед чистым «Спасибо за внимание».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41248" y="1920240"/>
            <a:ext cx="4956048" cy="1325880"/>
          </a:xfrm>
          <a:prstGeom prst="roundRect">
            <a:avLst>
              <a:gd name="adj" fmla="val 4138"/>
            </a:avLst>
          </a:prstGeom>
          <a:solidFill>
            <a:srgbClr val="0D2031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9264" y="2029968"/>
            <a:ext cx="4700016" cy="45720"/>
          </a:xfrm>
          <a:prstGeom prst="roundRect">
            <a:avLst>
              <a:gd name="adj" fmla="val 50000"/>
            </a:avLst>
          </a:prstGeom>
          <a:solidFill>
            <a:srgbClr val="FF7A7A"/>
          </a:solidFill>
          <a:ln w="12700">
            <a:solidFill>
              <a:srgbClr val="FF7A7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2139696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Ключевые риски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1042416" y="2523744"/>
            <a:ext cx="455371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Сложные PDF и OCR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Длинный B2B sales cycle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Требования к безопасности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Зависимость стоимости AI от провайдера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6108192" y="1920240"/>
            <a:ext cx="4956048" cy="1325880"/>
          </a:xfrm>
          <a:prstGeom prst="roundRect">
            <a:avLst>
              <a:gd name="adj" fmla="val 4138"/>
            </a:avLst>
          </a:prstGeom>
          <a:solidFill>
            <a:srgbClr val="0D2031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36208" y="2029968"/>
            <a:ext cx="4700016" cy="45720"/>
          </a:xfrm>
          <a:prstGeom prst="roundRect">
            <a:avLst>
              <a:gd name="adj" fmla="val 50000"/>
            </a:avLst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139696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Ответ проекта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6309360" y="2523744"/>
            <a:ext cx="455371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Confidence filter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core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Private contour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Manifest-driven demo и regression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841248" y="3410712"/>
            <a:ext cx="4956048" cy="1325880"/>
          </a:xfrm>
          <a:prstGeom prst="roundRect">
            <a:avLst>
              <a:gd name="adj" fmla="val 4138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9264" y="3520440"/>
            <a:ext cx="4700016" cy="45720"/>
          </a:xfrm>
          <a:prstGeom prst="roundRect">
            <a:avLst>
              <a:gd name="adj" fmla="val 50000"/>
            </a:avLst>
          </a:prstGeom>
          <a:solidFill>
            <a:srgbClr val="38D2FF"/>
          </a:solidFill>
          <a:ln w="12700">
            <a:solidFill>
              <a:srgbClr val="38D2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3630168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Ownership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1042416" y="4014216"/>
            <a:ext cx="455371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Автор / lead developer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Архитектура продукта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contour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packaging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6108192" y="3410712"/>
            <a:ext cx="4956048" cy="1325880"/>
          </a:xfrm>
          <a:prstGeom prst="roundRect">
            <a:avLst>
              <a:gd name="adj" fmla="val 4138"/>
            </a:avLst>
          </a:prstGeom>
          <a:solidFill>
            <a:srgbClr val="10283E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36208" y="3520440"/>
            <a:ext cx="4700016" cy="45720"/>
          </a:xfrm>
          <a:prstGeom prst="roundRect">
            <a:avLst>
              <a:gd name="adj" fmla="val 50000"/>
            </a:avLst>
          </a:prstGeom>
          <a:solidFill>
            <a:srgbClr val="FFC55C"/>
          </a:solidFill>
          <a:ln w="12700">
            <a:solidFill>
              <a:srgbClr val="FFC55C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3630168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Контакт</a:t>
            </a:r>
            <a:endParaRPr lang="en-US" sz="860" dirty="0"/>
          </a:p>
        </p:txBody>
      </p:sp>
      <p:sp>
        <p:nvSpPr>
          <p:cNvPr id="25" name="Text 23"/>
          <p:cNvSpPr/>
          <p:nvPr/>
        </p:nvSpPr>
        <p:spPr>
          <a:xfrm>
            <a:off x="6309360" y="4014216"/>
            <a:ext cx="455371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Автор: [Ваше имя]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Email: email@example.com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Telegram: @telegram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GitHub: github.com/NeoFinSol/neo-fin-ai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841248" y="5806440"/>
            <a:ext cx="10515600" cy="329184"/>
          </a:xfrm>
          <a:prstGeom prst="roundRect">
            <a:avLst>
              <a:gd name="adj" fmla="val 16667"/>
            </a:avLst>
          </a:prstGeom>
          <a:solidFill>
            <a:srgbClr val="132F48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9264" y="5916168"/>
            <a:ext cx="10259568" cy="45720"/>
          </a:xfrm>
          <a:prstGeom prst="roundRect">
            <a:avLst>
              <a:gd name="adj" fmla="val 50000"/>
            </a:avLst>
          </a:prstGeom>
          <a:solidFill>
            <a:srgbClr val="38D2FF"/>
          </a:solidFill>
          <a:ln w="12700">
            <a:solidFill>
              <a:srgbClr val="38D2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" y="6025896"/>
            <a:ext cx="10113264" cy="-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7F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Следующий логичный шаг после конкурса — пилот на реальном потоке отчётности и проверка экономии времени в живом процессе клиента.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13232" y="640994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708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NeoFin AI | приложение / ответы | 30.03.2026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10991088" y="635508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38D2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32</a:t>
            </a:r>
            <a:endParaRPr lang="en-US" sz="92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5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92608"/>
            <a:ext cx="11484864" cy="6291072"/>
          </a:xfrm>
          <a:prstGeom prst="rect">
            <a:avLst/>
          </a:prstGeom>
          <a:solidFill>
            <a:srgbClr val="05111C">
              <a:alpha val="0"/>
            </a:srgbClr>
          </a:solidFill>
          <a:ln w="12700">
            <a:solidFill>
              <a:srgbClr val="284763">
                <a:alpha val="4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84464" y="73152"/>
            <a:ext cx="3493008" cy="2340864"/>
          </a:xfrm>
          <a:prstGeom prst="ellipse">
            <a:avLst/>
          </a:prstGeom>
          <a:solidFill>
            <a:srgbClr val="38D2FF">
              <a:alpha val="12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4882896"/>
            <a:ext cx="2542032" cy="1755648"/>
          </a:xfrm>
          <a:prstGeom prst="ellipse">
            <a:avLst/>
          </a:prstGeom>
          <a:solidFill>
            <a:srgbClr val="2EE6A6">
              <a:alpha val="10000"/>
            </a:srgbClr>
          </a:solidFill>
          <a:ln w="12700">
            <a:solidFill>
              <a:srgbClr val="05111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66928"/>
            <a:ext cx="1463040" cy="0"/>
          </a:xfrm>
          <a:prstGeom prst="line">
            <a:avLst/>
          </a:prstGeom>
          <a:noFill/>
          <a:ln w="12700">
            <a:solidFill>
              <a:srgbClr val="2EE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1371600"/>
            <a:ext cx="1463040" cy="219456"/>
          </a:xfrm>
          <a:prstGeom prst="rect">
            <a:avLst/>
          </a:prstGeom>
          <a:solidFill>
            <a:srgbClr val="10283E"/>
          </a:solidFill>
          <a:ln>
            <a:solidFill>
              <a:srgbClr val="284763">
                <a:alpha val="42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2EE6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Финал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1143000" y="2057400"/>
            <a:ext cx="98755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96" b="1" dirty="0">
                <a:solidFill>
                  <a:srgbClr val="F7FB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Спасибо за внимание</a:t>
            </a:r>
            <a:endParaRPr lang="en-US" sz="3396" dirty="0"/>
          </a:p>
        </p:txBody>
      </p:sp>
      <p:sp>
        <p:nvSpPr>
          <p:cNvPr id="8" name="Text 6"/>
          <p:cNvSpPr/>
          <p:nvPr/>
        </p:nvSpPr>
        <p:spPr>
          <a:xfrm>
            <a:off x="1143000" y="309067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B8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NeoFin AI — объяснимый финансовый анализ PDF-отчётности для профессионального контура.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2743200" y="4800600"/>
            <a:ext cx="6702552" cy="420624"/>
          </a:xfrm>
          <a:prstGeom prst="roundRect">
            <a:avLst>
              <a:gd name="adj" fmla="val 13043"/>
            </a:avLst>
          </a:prstGeom>
          <a:solidFill>
            <a:srgbClr val="132F48"/>
          </a:solidFill>
          <a:ln w="12700">
            <a:solidFill>
              <a:srgbClr val="284763">
                <a:alpha val="4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71216" y="4910328"/>
            <a:ext cx="6446520" cy="45720"/>
          </a:xfrm>
          <a:prstGeom prst="roundRect">
            <a:avLst>
              <a:gd name="adj" fmla="val 50000"/>
            </a:avLst>
          </a:prstGeom>
          <a:solidFill>
            <a:srgbClr val="38D2FF"/>
          </a:solidFill>
          <a:ln w="12700">
            <a:solidFill>
              <a:srgbClr val="38D2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44368" y="5020056"/>
            <a:ext cx="6300216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7F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Буду рад вопросам, обратной связи и обсуждению пилота.</a:t>
            </a:r>
            <a:endParaRPr lang="en-US" sz="10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ahnschrif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NeoFin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NeoFin AI — конкурсная презентация</dc:title>
  <dc:subject>Young Financier 2026 presentation</dc:subject>
  <dc:creator>Codex</dc:creator>
  <cp:lastModifiedBy>Codex</cp:lastModifiedBy>
  <cp:revision>1</cp:revision>
  <dcterms:created xsi:type="dcterms:W3CDTF">2026-03-30T17:00:17Z</dcterms:created>
  <dcterms:modified xsi:type="dcterms:W3CDTF">2026-03-30T17:00:17Z</dcterms:modified>
</cp:coreProperties>
</file>